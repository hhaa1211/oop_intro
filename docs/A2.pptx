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8288000" cy="10287000"/>
  <p:notesSz cx="6858000" cy="9144000"/>
  <p:embeddedFontLst>
    <p:embeddedFont>
      <p:font typeface="Helvetica World" panose="020B0604020202020204" charset="-128"/>
      <p:regular r:id="rId25"/>
    </p:embeddedFont>
    <p:embeddedFont>
      <p:font typeface="Helvetica World Bold" panose="020B0604020202020204" charset="-128"/>
      <p:regular r:id="rId26"/>
    </p:embeddedFont>
    <p:embeddedFont>
      <p:font typeface="Helvetica World Bold Italics" panose="020B0604020202020204" charset="-128"/>
      <p:regular r:id="rId27"/>
    </p:embeddedFont>
    <p:embeddedFont>
      <p:font typeface="Anton" panose="020F0502020204030204" pitchFamily="2" charset="0"/>
      <p:regular r:id="rId28"/>
    </p:embeddedFont>
    <p:embeddedFont>
      <p:font typeface="Francois One" panose="020B0604020202020204" charset="0"/>
      <p:regular r:id="rId29"/>
    </p:embeddedFont>
    <p:embeddedFont>
      <p:font typeface="Noto Sans" panose="020B0502040204020203" pitchFamily="34" charset="0"/>
      <p:regular r:id="rId30"/>
    </p:embeddedFont>
    <p:embeddedFont>
      <p:font typeface="Noto Sans Bold" panose="020B0604020202020204" charset="0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6" d="100"/>
          <a:sy n="56" d="100"/>
        </p:scale>
        <p:origin x="378" y="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3993002"/>
            <a:ext cx="9802118" cy="2300996"/>
            <a:chOff x="0" y="0"/>
            <a:chExt cx="13069490" cy="3067994"/>
          </a:xfrm>
        </p:grpSpPr>
        <p:sp>
          <p:nvSpPr>
            <p:cNvPr id="3" name="AutoShape 3"/>
            <p:cNvSpPr/>
            <p:nvPr/>
          </p:nvSpPr>
          <p:spPr>
            <a:xfrm>
              <a:off x="63500" y="3048944"/>
              <a:ext cx="9654697" cy="0"/>
            </a:xfrm>
            <a:prstGeom prst="line">
              <a:avLst/>
            </a:prstGeom>
            <a:ln w="38100" cap="flat">
              <a:solidFill>
                <a:srgbClr val="0552A1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114300"/>
              <a:ext cx="13069490" cy="26142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7956"/>
                </a:lnSpc>
                <a:spcBef>
                  <a:spcPct val="0"/>
                </a:spcBef>
              </a:pPr>
              <a:r>
                <a:rPr lang="en-US" sz="5683">
                  <a:solidFill>
                    <a:srgbClr val="0552A1"/>
                  </a:solidFill>
                  <a:latin typeface="Anton"/>
                  <a:ea typeface="Anton"/>
                  <a:cs typeface="Anton"/>
                  <a:sym typeface="Anton"/>
                </a:rPr>
                <a:t>Chủ đề 8: Quản lý danh sách Phòng khách sạn</a:t>
              </a:r>
            </a:p>
          </p:txBody>
        </p:sp>
      </p:grpSp>
      <p:sp>
        <p:nvSpPr>
          <p:cNvPr id="5" name="Freeform 5"/>
          <p:cNvSpPr/>
          <p:nvPr/>
        </p:nvSpPr>
        <p:spPr>
          <a:xfrm>
            <a:off x="10636516" y="2970667"/>
            <a:ext cx="5994023" cy="4345667"/>
          </a:xfrm>
          <a:custGeom>
            <a:avLst/>
            <a:gdLst/>
            <a:ahLst/>
            <a:cxnLst/>
            <a:rect l="l" t="t" r="r" b="b"/>
            <a:pathLst>
              <a:path w="5994023" h="4345667">
                <a:moveTo>
                  <a:pt x="0" y="0"/>
                </a:moveTo>
                <a:lnTo>
                  <a:pt x="5994024" y="0"/>
                </a:lnTo>
                <a:lnTo>
                  <a:pt x="5994024" y="4345666"/>
                </a:lnTo>
                <a:lnTo>
                  <a:pt x="0" y="43456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3144304" y="2366207"/>
          <a:ext cx="11999392" cy="6892093"/>
        </p:xfrm>
        <a:graphic>
          <a:graphicData uri="http://schemas.openxmlformats.org/drawingml/2006/table">
            <a:tbl>
              <a:tblPr/>
              <a:tblGrid>
                <a:gridCol w="1459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465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3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78088"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="1">
                          <a:solidFill>
                            <a:srgbClr val="000000"/>
                          </a:solidFill>
                          <a:latin typeface="Helvetica World Bold"/>
                          <a:ea typeface="Helvetica World Bold"/>
                          <a:cs typeface="Helvetica World Bold"/>
                          <a:sym typeface="Helvetica World Bold"/>
                        </a:rPr>
                        <a:t>STT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="1">
                          <a:solidFill>
                            <a:srgbClr val="000000"/>
                          </a:solidFill>
                          <a:latin typeface="Helvetica World Bold"/>
                          <a:ea typeface="Helvetica World Bold"/>
                          <a:cs typeface="Helvetica World Bold"/>
                          <a:sym typeface="Helvetica World Bold"/>
                        </a:rPr>
                        <a:t>Họ và Tên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="1">
                          <a:solidFill>
                            <a:srgbClr val="000000"/>
                          </a:solidFill>
                          <a:latin typeface="Helvetica World Bold"/>
                          <a:ea typeface="Helvetica World Bold"/>
                          <a:cs typeface="Helvetica World Bold"/>
                          <a:sym typeface="Helvetica World Bold"/>
                        </a:rPr>
                        <a:t>Mã sinh viên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7339"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Nguyễn Kim Hoàng Hà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257140210035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39776"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2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Nguyễn Thị Ngọc Anh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257140210009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7339"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Mào Thị Phương Loan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257140210131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39776"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Nguyễn Hiền Phương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257140310093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39776"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Lý Bảo Trâm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257140210117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TextBox 3"/>
          <p:cNvSpPr txBox="1"/>
          <p:nvPr/>
        </p:nvSpPr>
        <p:spPr>
          <a:xfrm>
            <a:off x="4819166" y="607583"/>
            <a:ext cx="8649667" cy="1184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9"/>
              </a:lnSpc>
              <a:spcBef>
                <a:spcPct val="0"/>
              </a:spcBef>
            </a:pPr>
            <a:r>
              <a:rPr lang="en-US" sz="6999" spc="-139">
                <a:solidFill>
                  <a:srgbClr val="0552A1"/>
                </a:solidFill>
                <a:latin typeface="Francois One"/>
                <a:ea typeface="Francois One"/>
                <a:cs typeface="Francois One"/>
                <a:sym typeface="Francois One"/>
              </a:rPr>
              <a:t>DANH SÁCH THÀNH VIÊN </a:t>
            </a:r>
          </a:p>
        </p:txBody>
      </p:sp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86817" y="1785923"/>
            <a:ext cx="15514367" cy="6715154"/>
            <a:chOff x="0" y="0"/>
            <a:chExt cx="4086088" cy="1768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086088" cy="1768600"/>
            </a:xfrm>
            <a:custGeom>
              <a:avLst/>
              <a:gdLst/>
              <a:ahLst/>
              <a:cxnLst/>
              <a:rect l="l" t="t" r="r" b="b"/>
              <a:pathLst>
                <a:path w="4086088" h="1768600">
                  <a:moveTo>
                    <a:pt x="0" y="0"/>
                  </a:moveTo>
                  <a:lnTo>
                    <a:pt x="4086088" y="0"/>
                  </a:lnTo>
                  <a:lnTo>
                    <a:pt x="4086088" y="1768600"/>
                  </a:lnTo>
                  <a:lnTo>
                    <a:pt x="0" y="1768600"/>
                  </a:lnTo>
                  <a:close/>
                </a:path>
              </a:pathLst>
            </a:custGeom>
            <a:solidFill>
              <a:srgbClr val="F3FBFF"/>
            </a:solidFill>
            <a:ln w="19050" cap="sq">
              <a:solidFill>
                <a:srgbClr val="0552A1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4086088" cy="17876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550687" y="3336350"/>
            <a:ext cx="15037486" cy="4442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77240" lvl="1" indent="-388620" algn="l">
              <a:lnSpc>
                <a:spcPts val="5040"/>
              </a:lnSpc>
              <a:spcBef>
                <a:spcPct val="0"/>
              </a:spcBef>
              <a:buFont typeface="Arial"/>
              <a:buChar char="•"/>
            </a:pPr>
            <a:r>
              <a:rPr lang="en-US" sz="3600" spc="-8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Ngành du lịch và lưu trú phát triển, đòi hỏi quản lý thông tin phòng chính xác và hiệu quả.</a:t>
            </a:r>
          </a:p>
          <a:p>
            <a:pPr marL="777240" lvl="1" indent="-388620" algn="l">
              <a:lnSpc>
                <a:spcPts val="5040"/>
              </a:lnSpc>
              <a:spcBef>
                <a:spcPct val="0"/>
              </a:spcBef>
              <a:buFont typeface="Arial"/>
              <a:buChar char="•"/>
            </a:pPr>
            <a:r>
              <a:rPr lang="en-US" sz="3600" spc="-8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Quản lý thủ công dễ xảy ra sai sót, nhầm lẫn dữ liệu.</a:t>
            </a:r>
          </a:p>
          <a:p>
            <a:pPr marL="777240" lvl="1" indent="-388620" algn="l">
              <a:lnSpc>
                <a:spcPts val="5040"/>
              </a:lnSpc>
              <a:spcBef>
                <a:spcPct val="0"/>
              </a:spcBef>
              <a:buFont typeface="Arial"/>
              <a:buChar char="•"/>
            </a:pPr>
            <a:r>
              <a:rPr lang="en-US" sz="3600" spc="-8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Nhóm chọn đề tài “Xây dựng chương trình Quản lý phòng khách sạn bằng C++” để vận dụng kiến thức lập trình hướng đối tượng (OOP) và rèn luyện kỹ năng phân tích, thiết kế, làm việc nhóm và sử dụng GitHub.</a:t>
            </a:r>
          </a:p>
          <a:p>
            <a:pPr algn="l">
              <a:lnSpc>
                <a:spcPts val="5040"/>
              </a:lnSpc>
              <a:spcBef>
                <a:spcPct val="0"/>
              </a:spcBef>
            </a:pPr>
            <a:endParaRPr lang="en-US" sz="3600" spc="-89">
              <a:solidFill>
                <a:srgbClr val="00000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2168137" y="2104667"/>
            <a:ext cx="5155773" cy="8445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99"/>
              </a:lnSpc>
              <a:spcBef>
                <a:spcPct val="0"/>
              </a:spcBef>
            </a:pPr>
            <a:r>
              <a:rPr lang="en-US" sz="4999" spc="-99">
                <a:solidFill>
                  <a:srgbClr val="0552A1"/>
                </a:solidFill>
                <a:latin typeface="Francois One"/>
                <a:ea typeface="Francois One"/>
                <a:cs typeface="Francois One"/>
                <a:sym typeface="Francois One"/>
              </a:rPr>
              <a:t>LÝ DO CHỌN ĐỀ TÀI</a:t>
            </a:r>
          </a:p>
        </p:txBody>
      </p: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86817" y="1407312"/>
            <a:ext cx="15514367" cy="7472377"/>
            <a:chOff x="0" y="0"/>
            <a:chExt cx="4086088" cy="19680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086088" cy="1968033"/>
            </a:xfrm>
            <a:custGeom>
              <a:avLst/>
              <a:gdLst/>
              <a:ahLst/>
              <a:cxnLst/>
              <a:rect l="l" t="t" r="r" b="b"/>
              <a:pathLst>
                <a:path w="4086088" h="1968033">
                  <a:moveTo>
                    <a:pt x="0" y="0"/>
                  </a:moveTo>
                  <a:lnTo>
                    <a:pt x="4086088" y="0"/>
                  </a:lnTo>
                  <a:lnTo>
                    <a:pt x="4086088" y="1968033"/>
                  </a:lnTo>
                  <a:lnTo>
                    <a:pt x="0" y="1968033"/>
                  </a:lnTo>
                  <a:close/>
                </a:path>
              </a:pathLst>
            </a:custGeom>
            <a:solidFill>
              <a:srgbClr val="F3FBFF"/>
            </a:solidFill>
            <a:ln w="19050" cap="sq">
              <a:solidFill>
                <a:srgbClr val="0552A1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4086088" cy="19870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885648" y="3018003"/>
            <a:ext cx="15037486" cy="5823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77240" lvl="1" indent="-388620" algn="l">
              <a:lnSpc>
                <a:spcPts val="5040"/>
              </a:lnSpc>
              <a:buAutoNum type="arabicPeriod"/>
            </a:pPr>
            <a:r>
              <a:rPr lang="en-US" sz="3600" b="1" spc="-8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Kiến thức và kỹ năng</a:t>
            </a:r>
          </a:p>
          <a:p>
            <a:pPr marL="777240" lvl="1" indent="-388620" algn="l">
              <a:lnSpc>
                <a:spcPts val="5040"/>
              </a:lnSpc>
              <a:buFont typeface="Arial"/>
              <a:buChar char="•"/>
            </a:pPr>
            <a:r>
              <a:rPr lang="en-US" sz="3600" spc="-8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Vận dụng các nguyên lý OOP: đóng gói, trừu tượng.</a:t>
            </a:r>
          </a:p>
          <a:p>
            <a:pPr marL="777240" lvl="1" indent="-388620" algn="l">
              <a:lnSpc>
                <a:spcPts val="5040"/>
              </a:lnSpc>
              <a:buFont typeface="Arial"/>
              <a:buChar char="•"/>
            </a:pPr>
            <a:r>
              <a:rPr lang="en-US" sz="3600" spc="-8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Sử dụng mảng đối tượng, thuật toán tìm kiếm và sắp xếp.</a:t>
            </a:r>
          </a:p>
          <a:p>
            <a:pPr marL="777240" lvl="1" indent="-388620" algn="l">
              <a:lnSpc>
                <a:spcPts val="5040"/>
              </a:lnSpc>
              <a:buFont typeface="Arial"/>
              <a:buChar char="•"/>
            </a:pPr>
            <a:r>
              <a:rPr lang="en-US" sz="3600" spc="-8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Rèn luyện kỹ năng kiểm tra dữ liệu đầu vào và xử lý dữ liệu trùng lặp.</a:t>
            </a:r>
          </a:p>
          <a:p>
            <a:pPr marL="777240" lvl="1" indent="-388620" algn="l">
              <a:lnSpc>
                <a:spcPts val="5040"/>
              </a:lnSpc>
              <a:buAutoNum type="arabicPeriod"/>
            </a:pPr>
            <a:r>
              <a:rPr lang="en-US" sz="3600" b="1" spc="-8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Mục tiêu sản phẩm</a:t>
            </a:r>
          </a:p>
          <a:p>
            <a:pPr marL="777240" lvl="1" indent="-388620" algn="l">
              <a:lnSpc>
                <a:spcPts val="5040"/>
              </a:lnSpc>
              <a:buFont typeface="Arial"/>
              <a:buChar char="•"/>
            </a:pPr>
            <a:r>
              <a:rPr lang="en-US" sz="3600" spc="-8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Xây dựng chương trình hoàn chỉnh, ổn định.</a:t>
            </a:r>
          </a:p>
          <a:p>
            <a:pPr marL="777240" lvl="1" indent="-388620" algn="l">
              <a:lnSpc>
                <a:spcPts val="5040"/>
              </a:lnSpc>
              <a:buFont typeface="Arial"/>
              <a:buChar char="•"/>
            </a:pPr>
            <a:r>
              <a:rPr lang="en-US" sz="3600" spc="-8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Thiết kế Menu rõ ràng, dễ thao tác.</a:t>
            </a:r>
          </a:p>
          <a:p>
            <a:pPr marL="777240" lvl="1" indent="-388620" algn="l">
              <a:lnSpc>
                <a:spcPts val="5040"/>
              </a:lnSpc>
              <a:buFont typeface="Arial"/>
              <a:buChar char="•"/>
            </a:pPr>
            <a:r>
              <a:rPr lang="en-US" sz="3600" spc="-8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Đảm bảo dữ liệu chính xác khi thêm, xóa, tìm kiếm và sắp xếp.</a:t>
            </a:r>
          </a:p>
          <a:p>
            <a:pPr algn="l">
              <a:lnSpc>
                <a:spcPts val="5040"/>
              </a:lnSpc>
              <a:spcBef>
                <a:spcPct val="0"/>
              </a:spcBef>
            </a:pPr>
            <a:endParaRPr lang="en-US" sz="3600" spc="-89">
              <a:solidFill>
                <a:srgbClr val="00000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2267564" y="1842858"/>
            <a:ext cx="2645263" cy="8445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99"/>
              </a:lnSpc>
              <a:spcBef>
                <a:spcPct val="0"/>
              </a:spcBef>
            </a:pPr>
            <a:r>
              <a:rPr lang="en-US" sz="4999" spc="-99">
                <a:solidFill>
                  <a:srgbClr val="0552A1"/>
                </a:solidFill>
                <a:latin typeface="Francois One"/>
                <a:ea typeface="Francois One"/>
                <a:cs typeface="Francois One"/>
                <a:sym typeface="Francois One"/>
              </a:rPr>
              <a:t>MỤC TIÊU</a:t>
            </a:r>
          </a:p>
        </p:txBody>
      </p:sp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86817" y="1407312"/>
            <a:ext cx="15514367" cy="7472377"/>
            <a:chOff x="0" y="0"/>
            <a:chExt cx="4086088" cy="19680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086088" cy="1968033"/>
            </a:xfrm>
            <a:custGeom>
              <a:avLst/>
              <a:gdLst/>
              <a:ahLst/>
              <a:cxnLst/>
              <a:rect l="l" t="t" r="r" b="b"/>
              <a:pathLst>
                <a:path w="4086088" h="1968033">
                  <a:moveTo>
                    <a:pt x="0" y="0"/>
                  </a:moveTo>
                  <a:lnTo>
                    <a:pt x="4086088" y="0"/>
                  </a:lnTo>
                  <a:lnTo>
                    <a:pt x="4086088" y="1968033"/>
                  </a:lnTo>
                  <a:lnTo>
                    <a:pt x="0" y="1968033"/>
                  </a:lnTo>
                  <a:close/>
                </a:path>
              </a:pathLst>
            </a:custGeom>
            <a:solidFill>
              <a:srgbClr val="F3FBFF"/>
            </a:solidFill>
            <a:ln w="19050" cap="sq">
              <a:solidFill>
                <a:srgbClr val="0552A1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4086088" cy="19870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221814" y="2901315"/>
            <a:ext cx="14192364" cy="5290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3600" b="1" spc="-8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1. Lập trình hướng đối tượng (OOP)</a:t>
            </a:r>
          </a:p>
          <a:p>
            <a:pPr algn="l">
              <a:lnSpc>
                <a:spcPts val="5040"/>
              </a:lnSpc>
            </a:pPr>
            <a:r>
              <a:rPr lang="en-US" sz="3600" spc="-8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Sử dụng lớp, đối tượng và tính đóng gói để xây dựng chương trình.</a:t>
            </a:r>
          </a:p>
          <a:p>
            <a:pPr algn="l">
              <a:lnSpc>
                <a:spcPts val="5040"/>
              </a:lnSpc>
            </a:pPr>
            <a:r>
              <a:rPr lang="en-US" sz="3600" b="1" spc="-8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2. Mảng đối tượng</a:t>
            </a:r>
          </a:p>
          <a:p>
            <a:pPr algn="l">
              <a:lnSpc>
                <a:spcPts val="5040"/>
              </a:lnSpc>
            </a:pPr>
            <a:r>
              <a:rPr lang="en-US" sz="3600" spc="-8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Dùng để lưu trữ và quản lý nhiều phòng trong cùng một danh sách.</a:t>
            </a:r>
          </a:p>
          <a:p>
            <a:pPr algn="l">
              <a:lnSpc>
                <a:spcPts val="5040"/>
              </a:lnSpc>
            </a:pPr>
            <a:r>
              <a:rPr lang="en-US" sz="3600" b="1" spc="-8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3. Tìm kiếm và sắp xếp</a:t>
            </a:r>
          </a:p>
          <a:p>
            <a:pPr algn="l">
              <a:lnSpc>
                <a:spcPts val="5040"/>
              </a:lnSpc>
            </a:pPr>
            <a:r>
              <a:rPr lang="en-US" sz="3600" spc="-8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Áp dụng tìm kiếm tuyến tính và sắp xếp theo giá thuê tăng dần.</a:t>
            </a:r>
          </a:p>
          <a:p>
            <a:pPr algn="l">
              <a:lnSpc>
                <a:spcPts val="5040"/>
              </a:lnSpc>
            </a:pPr>
            <a:r>
              <a:rPr lang="en-US" sz="3600" b="1" spc="-8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4. Kiểm tra dữ liệu</a:t>
            </a:r>
          </a:p>
          <a:p>
            <a:pPr algn="l">
              <a:lnSpc>
                <a:spcPts val="5040"/>
              </a:lnSpc>
              <a:spcBef>
                <a:spcPct val="0"/>
              </a:spcBef>
            </a:pPr>
            <a:r>
              <a:rPr lang="en-US" sz="3600" spc="-8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Đảm bảo dữ liệu nhập vào hợp lệ và không bị trùng mã phòng.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267564" y="1842858"/>
            <a:ext cx="4708356" cy="8445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99"/>
              </a:lnSpc>
              <a:spcBef>
                <a:spcPct val="0"/>
              </a:spcBef>
            </a:pPr>
            <a:r>
              <a:rPr lang="en-US" sz="4999" spc="-99">
                <a:solidFill>
                  <a:srgbClr val="0552A1"/>
                </a:solidFill>
                <a:latin typeface="Francois One"/>
                <a:ea typeface="Francois One"/>
                <a:cs typeface="Francois One"/>
                <a:sym typeface="Francois One"/>
              </a:rPr>
              <a:t>CƠ SỞ LÝ THUYẾT</a:t>
            </a:r>
          </a:p>
        </p:txBody>
      </p:sp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72046" y="1567834"/>
            <a:ext cx="14943909" cy="7151333"/>
            <a:chOff x="0" y="0"/>
            <a:chExt cx="3935844" cy="188347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935844" cy="1883479"/>
            </a:xfrm>
            <a:custGeom>
              <a:avLst/>
              <a:gdLst/>
              <a:ahLst/>
              <a:cxnLst/>
              <a:rect l="l" t="t" r="r" b="b"/>
              <a:pathLst>
                <a:path w="3935844" h="1883479">
                  <a:moveTo>
                    <a:pt x="0" y="0"/>
                  </a:moveTo>
                  <a:lnTo>
                    <a:pt x="3935844" y="0"/>
                  </a:lnTo>
                  <a:lnTo>
                    <a:pt x="3935844" y="1883479"/>
                  </a:lnTo>
                  <a:lnTo>
                    <a:pt x="0" y="1883479"/>
                  </a:lnTo>
                  <a:close/>
                </a:path>
              </a:pathLst>
            </a:custGeom>
            <a:solidFill>
              <a:srgbClr val="F3FBFF"/>
            </a:solidFill>
            <a:ln w="19050" cap="sq">
              <a:solidFill>
                <a:srgbClr val="0552A1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3935844" cy="19025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642630" y="2975467"/>
            <a:ext cx="13002740" cy="5161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760"/>
              </a:lnSpc>
              <a:spcBef>
                <a:spcPct val="0"/>
              </a:spcBef>
            </a:pPr>
            <a:r>
              <a:rPr lang="en-US" sz="3400" b="1" spc="-68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Xây dựng lớp quản lý</a:t>
            </a:r>
            <a:r>
              <a:rPr lang="en-US" sz="3400" spc="-6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đối tượng Phòng khách sạn với các thuộc tính: </a:t>
            </a:r>
            <a:r>
              <a:rPr lang="en-US" sz="3400" b="1" spc="-68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mã phòng</a:t>
            </a:r>
            <a:r>
              <a:rPr lang="en-US" sz="3400" spc="-6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</a:t>
            </a:r>
            <a:r>
              <a:rPr lang="en-US" sz="3400" b="1" spc="-68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loại phòng</a:t>
            </a:r>
            <a:r>
              <a:rPr lang="en-US" sz="3400" spc="-6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</a:t>
            </a:r>
            <a:r>
              <a:rPr lang="en-US" sz="3400" b="1" spc="-68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tầng, sức chứa</a:t>
            </a:r>
            <a:r>
              <a:rPr lang="en-US" sz="3400" spc="-6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</a:t>
            </a:r>
            <a:r>
              <a:rPr lang="en-US" sz="3400" b="1" spc="-68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giá thuê mỗi đêm</a:t>
            </a:r>
            <a:r>
              <a:rPr lang="en-US" sz="3400" spc="-6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</a:t>
            </a:r>
            <a:r>
              <a:rPr lang="en-US" sz="3400" b="1" spc="-68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trạng thái</a:t>
            </a:r>
            <a:r>
              <a:rPr lang="en-US" sz="3400" spc="-6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(còn trống/đã thuê) và</a:t>
            </a:r>
            <a:r>
              <a:rPr lang="en-US" sz="3400" b="1" spc="-68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các phương thức cần thiết</a:t>
            </a:r>
            <a:r>
              <a:rPr lang="en-US" sz="3400" spc="-6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. Sau đó </a:t>
            </a:r>
            <a:r>
              <a:rPr lang="en-US" sz="3400" b="1" spc="-68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thực hiện quản lý</a:t>
            </a:r>
            <a:r>
              <a:rPr lang="en-US" sz="3400" spc="-6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danh sách n (0 &lt; n &lt; 200) phòng với các thao tác: </a:t>
            </a:r>
          </a:p>
          <a:p>
            <a:pPr algn="just">
              <a:lnSpc>
                <a:spcPts val="4760"/>
              </a:lnSpc>
              <a:spcBef>
                <a:spcPct val="0"/>
              </a:spcBef>
            </a:pPr>
            <a:r>
              <a:rPr lang="en-US" sz="3400" spc="-6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• </a:t>
            </a:r>
            <a:r>
              <a:rPr lang="en-US" sz="3400" b="1" spc="-68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Nhập danh sách</a:t>
            </a:r>
            <a:r>
              <a:rPr lang="en-US" sz="3400" spc="-6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phòng từ bàn phím, in danh sách ra màn hình; </a:t>
            </a:r>
          </a:p>
          <a:p>
            <a:pPr algn="just">
              <a:lnSpc>
                <a:spcPts val="4760"/>
              </a:lnSpc>
              <a:spcBef>
                <a:spcPct val="0"/>
              </a:spcBef>
            </a:pPr>
            <a:r>
              <a:rPr lang="en-US" sz="3400" spc="-6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• </a:t>
            </a:r>
            <a:r>
              <a:rPr lang="en-US" sz="3400" b="1" spc="-68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Sắp xếp danh sách</a:t>
            </a:r>
            <a:r>
              <a:rPr lang="en-US" sz="3400" spc="-6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theo thứ tự giá thuê tăng dần; </a:t>
            </a:r>
          </a:p>
          <a:p>
            <a:pPr algn="just">
              <a:lnSpc>
                <a:spcPts val="4760"/>
              </a:lnSpc>
              <a:spcBef>
                <a:spcPct val="0"/>
              </a:spcBef>
            </a:pPr>
            <a:r>
              <a:rPr lang="en-US" sz="3400" spc="-6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• </a:t>
            </a:r>
            <a:r>
              <a:rPr lang="en-US" sz="3400" b="1" spc="-68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Tìm kiếm</a:t>
            </a:r>
            <a:r>
              <a:rPr lang="en-US" sz="3400" spc="-6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phòng theo mã phòng hoặc trạng thái; </a:t>
            </a:r>
          </a:p>
          <a:p>
            <a:pPr algn="just">
              <a:lnSpc>
                <a:spcPts val="4760"/>
              </a:lnSpc>
              <a:spcBef>
                <a:spcPct val="0"/>
              </a:spcBef>
            </a:pPr>
            <a:r>
              <a:rPr lang="en-US" sz="3400" spc="-6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• </a:t>
            </a:r>
            <a:r>
              <a:rPr lang="en-US" sz="3400" b="1" spc="-68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Bổ sung</a:t>
            </a:r>
            <a:r>
              <a:rPr lang="en-US" sz="3400" spc="-6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hoặc </a:t>
            </a:r>
            <a:r>
              <a:rPr lang="en-US" sz="3400" b="1" spc="-68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xóa </a:t>
            </a:r>
            <a:r>
              <a:rPr lang="en-US" sz="3400" spc="-6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 phòng ở một vị trí cho trước trong danh sách.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642630" y="1933932"/>
            <a:ext cx="2048707" cy="8445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99"/>
              </a:lnSpc>
              <a:spcBef>
                <a:spcPct val="0"/>
              </a:spcBef>
            </a:pPr>
            <a:r>
              <a:rPr lang="en-US" sz="4999" spc="-99">
                <a:solidFill>
                  <a:srgbClr val="0552A1"/>
                </a:solidFill>
                <a:latin typeface="Francois One"/>
                <a:ea typeface="Francois One"/>
                <a:cs typeface="Francois One"/>
                <a:sym typeface="Francois One"/>
              </a:rPr>
              <a:t>ĐỀ BÀI</a:t>
            </a:r>
          </a:p>
        </p:txBody>
      </p:sp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668932"/>
            <a:ext cx="15868650" cy="5858625"/>
            <a:chOff x="0" y="0"/>
            <a:chExt cx="21158200" cy="7811499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8847470" cy="7811499"/>
              <a:chOff x="0" y="0"/>
              <a:chExt cx="1747648" cy="1543012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1747648" cy="1543012"/>
              </a:xfrm>
              <a:custGeom>
                <a:avLst/>
                <a:gdLst/>
                <a:ahLst/>
                <a:cxnLst/>
                <a:rect l="l" t="t" r="r" b="b"/>
                <a:pathLst>
                  <a:path w="1747648" h="1543012">
                    <a:moveTo>
                      <a:pt x="0" y="0"/>
                    </a:moveTo>
                    <a:lnTo>
                      <a:pt x="1747648" y="0"/>
                    </a:lnTo>
                    <a:lnTo>
                      <a:pt x="1747648" y="1543012"/>
                    </a:lnTo>
                    <a:lnTo>
                      <a:pt x="0" y="1543012"/>
                    </a:lnTo>
                    <a:close/>
                  </a:path>
                </a:pathLst>
              </a:custGeom>
              <a:ln w="19050" cap="sq">
                <a:solidFill>
                  <a:srgbClr val="0552A1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19050"/>
                <a:ext cx="1747648" cy="156206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469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0" y="0"/>
              <a:ext cx="8847470" cy="1301099"/>
              <a:chOff x="0" y="0"/>
              <a:chExt cx="1747648" cy="257007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1747648" cy="257007"/>
              </a:xfrm>
              <a:custGeom>
                <a:avLst/>
                <a:gdLst/>
                <a:ahLst/>
                <a:cxnLst/>
                <a:rect l="l" t="t" r="r" b="b"/>
                <a:pathLst>
                  <a:path w="1747648" h="257007">
                    <a:moveTo>
                      <a:pt x="0" y="0"/>
                    </a:moveTo>
                    <a:lnTo>
                      <a:pt x="1747648" y="0"/>
                    </a:lnTo>
                    <a:lnTo>
                      <a:pt x="1747648" y="257007"/>
                    </a:lnTo>
                    <a:lnTo>
                      <a:pt x="0" y="257007"/>
                    </a:lnTo>
                    <a:close/>
                  </a:path>
                </a:pathLst>
              </a:custGeom>
              <a:solidFill>
                <a:srgbClr val="0552A1"/>
              </a:solidFill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19050"/>
                <a:ext cx="1747648" cy="27605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469"/>
                  </a:lnSpc>
                </a:pPr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2429933" y="208378"/>
              <a:ext cx="3987603" cy="8176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179"/>
                </a:lnSpc>
                <a:spcBef>
                  <a:spcPct val="0"/>
                </a:spcBef>
              </a:pPr>
              <a:r>
                <a:rPr lang="en-US" sz="3699" spc="-73">
                  <a:solidFill>
                    <a:srgbClr val="FFFFFF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CHƯƠNG TRÌNH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691731" y="2039187"/>
              <a:ext cx="1846964" cy="8710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79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Xuất</a:t>
              </a:r>
            </a:p>
          </p:txBody>
        </p:sp>
        <p:grpSp>
          <p:nvGrpSpPr>
            <p:cNvPr id="11" name="Group 11"/>
            <p:cNvGrpSpPr/>
            <p:nvPr/>
          </p:nvGrpSpPr>
          <p:grpSpPr>
            <a:xfrm>
              <a:off x="734046" y="5742176"/>
              <a:ext cx="3404899" cy="1561180"/>
              <a:chOff x="0" y="0"/>
              <a:chExt cx="729623" cy="33454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729623" cy="334540"/>
              </a:xfrm>
              <a:custGeom>
                <a:avLst/>
                <a:gdLst/>
                <a:ahLst/>
                <a:cxnLst/>
                <a:rect l="l" t="t" r="r" b="b"/>
                <a:pathLst>
                  <a:path w="729623" h="334540">
                    <a:moveTo>
                      <a:pt x="0" y="0"/>
                    </a:moveTo>
                    <a:lnTo>
                      <a:pt x="729623" y="0"/>
                    </a:lnTo>
                    <a:lnTo>
                      <a:pt x="729623" y="334540"/>
                    </a:lnTo>
                    <a:lnTo>
                      <a:pt x="0" y="334540"/>
                    </a:lnTo>
                    <a:close/>
                  </a:path>
                </a:pathLst>
              </a:custGeom>
              <a:ln w="19050" cap="sq">
                <a:solidFill>
                  <a:srgbClr val="0552A1"/>
                </a:solidFill>
                <a:prstDash val="solid"/>
                <a:miter/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0" y="-38100"/>
                <a:ext cx="729623" cy="37264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51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734046" y="1727262"/>
              <a:ext cx="3404899" cy="1561180"/>
              <a:chOff x="0" y="0"/>
              <a:chExt cx="729623" cy="33454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9623" cy="334540"/>
              </a:xfrm>
              <a:custGeom>
                <a:avLst/>
                <a:gdLst/>
                <a:ahLst/>
                <a:cxnLst/>
                <a:rect l="l" t="t" r="r" b="b"/>
                <a:pathLst>
                  <a:path w="729623" h="334540">
                    <a:moveTo>
                      <a:pt x="0" y="0"/>
                    </a:moveTo>
                    <a:lnTo>
                      <a:pt x="729623" y="0"/>
                    </a:lnTo>
                    <a:lnTo>
                      <a:pt x="729623" y="334540"/>
                    </a:lnTo>
                    <a:lnTo>
                      <a:pt x="0" y="334540"/>
                    </a:lnTo>
                    <a:close/>
                  </a:path>
                </a:pathLst>
              </a:custGeom>
              <a:ln w="19050" cap="sq">
                <a:solidFill>
                  <a:srgbClr val="0552A1"/>
                </a:solidFill>
                <a:prstDash val="solid"/>
                <a:miter/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0" y="-38100"/>
                <a:ext cx="729623" cy="37264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5199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734046" y="3736496"/>
              <a:ext cx="3404899" cy="1561180"/>
              <a:chOff x="0" y="0"/>
              <a:chExt cx="729623" cy="33454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729623" cy="334540"/>
              </a:xfrm>
              <a:custGeom>
                <a:avLst/>
                <a:gdLst/>
                <a:ahLst/>
                <a:cxnLst/>
                <a:rect l="l" t="t" r="r" b="b"/>
                <a:pathLst>
                  <a:path w="729623" h="334540">
                    <a:moveTo>
                      <a:pt x="0" y="0"/>
                    </a:moveTo>
                    <a:lnTo>
                      <a:pt x="729623" y="0"/>
                    </a:lnTo>
                    <a:lnTo>
                      <a:pt x="729623" y="334540"/>
                    </a:lnTo>
                    <a:lnTo>
                      <a:pt x="0" y="334540"/>
                    </a:lnTo>
                    <a:close/>
                  </a:path>
                </a:pathLst>
              </a:custGeom>
              <a:ln w="19050" cap="sq">
                <a:solidFill>
                  <a:srgbClr val="0552A1"/>
                </a:solidFill>
                <a:prstDash val="solid"/>
                <a:miter/>
              </a:ln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0" y="-38100"/>
                <a:ext cx="729623" cy="37264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5199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652713" y="2047118"/>
              <a:ext cx="1846964" cy="8710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79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Nhập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82124" y="4072668"/>
              <a:ext cx="2864342" cy="8710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79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Tìm kiếm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614613" y="6053925"/>
              <a:ext cx="1846964" cy="8710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79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Thêm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4709564" y="3710296"/>
              <a:ext cx="3404899" cy="1561180"/>
              <a:chOff x="0" y="0"/>
              <a:chExt cx="729623" cy="33454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729623" cy="334540"/>
              </a:xfrm>
              <a:custGeom>
                <a:avLst/>
                <a:gdLst/>
                <a:ahLst/>
                <a:cxnLst/>
                <a:rect l="l" t="t" r="r" b="b"/>
                <a:pathLst>
                  <a:path w="729623" h="334540">
                    <a:moveTo>
                      <a:pt x="0" y="0"/>
                    </a:moveTo>
                    <a:lnTo>
                      <a:pt x="729623" y="0"/>
                    </a:lnTo>
                    <a:lnTo>
                      <a:pt x="729623" y="334540"/>
                    </a:lnTo>
                    <a:lnTo>
                      <a:pt x="0" y="334540"/>
                    </a:lnTo>
                    <a:close/>
                  </a:path>
                </a:pathLst>
              </a:custGeom>
              <a:ln w="19050" cap="sq">
                <a:solidFill>
                  <a:srgbClr val="0552A1"/>
                </a:solidFill>
                <a:prstDash val="solid"/>
                <a:miter/>
              </a:ln>
            </p:spPr>
          </p:sp>
          <p:sp>
            <p:nvSpPr>
              <p:cNvPr id="25" name="TextBox 25"/>
              <p:cNvSpPr txBox="1"/>
              <p:nvPr/>
            </p:nvSpPr>
            <p:spPr>
              <a:xfrm>
                <a:off x="0" y="-38100"/>
                <a:ext cx="729623" cy="37264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5199"/>
                  </a:lnSpc>
                </a:pPr>
                <a:endParaRPr/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5322258" y="4046468"/>
              <a:ext cx="2509711" cy="8710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79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Sắp xếp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4709564" y="5715976"/>
              <a:ext cx="3404899" cy="1561180"/>
              <a:chOff x="0" y="0"/>
              <a:chExt cx="729623" cy="33454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729623" cy="334540"/>
              </a:xfrm>
              <a:custGeom>
                <a:avLst/>
                <a:gdLst/>
                <a:ahLst/>
                <a:cxnLst/>
                <a:rect l="l" t="t" r="r" b="b"/>
                <a:pathLst>
                  <a:path w="729623" h="334540">
                    <a:moveTo>
                      <a:pt x="0" y="0"/>
                    </a:moveTo>
                    <a:lnTo>
                      <a:pt x="729623" y="0"/>
                    </a:lnTo>
                    <a:lnTo>
                      <a:pt x="729623" y="334540"/>
                    </a:lnTo>
                    <a:lnTo>
                      <a:pt x="0" y="334540"/>
                    </a:lnTo>
                    <a:close/>
                  </a:path>
                </a:pathLst>
              </a:custGeom>
              <a:ln w="19050" cap="sq">
                <a:solidFill>
                  <a:srgbClr val="0552A1"/>
                </a:solidFill>
                <a:prstDash val="solid"/>
                <a:miter/>
              </a:ln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0" y="-38100"/>
                <a:ext cx="729623" cy="37264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5199"/>
                  </a:lnSpc>
                </a:pPr>
                <a:endParaRPr/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5900128" y="6027725"/>
              <a:ext cx="1846964" cy="8710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79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Xóa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4709564" y="1701062"/>
              <a:ext cx="3404899" cy="1561180"/>
              <a:chOff x="0" y="0"/>
              <a:chExt cx="729623" cy="33454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729623" cy="334540"/>
              </a:xfrm>
              <a:custGeom>
                <a:avLst/>
                <a:gdLst/>
                <a:ahLst/>
                <a:cxnLst/>
                <a:rect l="l" t="t" r="r" b="b"/>
                <a:pathLst>
                  <a:path w="729623" h="334540">
                    <a:moveTo>
                      <a:pt x="0" y="0"/>
                    </a:moveTo>
                    <a:lnTo>
                      <a:pt x="729623" y="0"/>
                    </a:lnTo>
                    <a:lnTo>
                      <a:pt x="729623" y="334540"/>
                    </a:lnTo>
                    <a:lnTo>
                      <a:pt x="0" y="334540"/>
                    </a:lnTo>
                    <a:close/>
                  </a:path>
                </a:pathLst>
              </a:custGeom>
              <a:ln w="19050" cap="sq">
                <a:solidFill>
                  <a:srgbClr val="0552A1"/>
                </a:solidFill>
                <a:prstDash val="solid"/>
                <a:miter/>
              </a:ln>
            </p:spPr>
          </p:sp>
          <p:sp>
            <p:nvSpPr>
              <p:cNvPr id="33" name="TextBox 33"/>
              <p:cNvSpPr txBox="1"/>
              <p:nvPr/>
            </p:nvSpPr>
            <p:spPr>
              <a:xfrm>
                <a:off x="0" y="-38100"/>
                <a:ext cx="729623" cy="37264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5199"/>
                  </a:lnSpc>
                </a:pPr>
                <a:endParaRPr/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9668347" y="12702"/>
              <a:ext cx="11489853" cy="1301099"/>
              <a:chOff x="0" y="0"/>
              <a:chExt cx="2269601" cy="257007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2269601" cy="257007"/>
              </a:xfrm>
              <a:custGeom>
                <a:avLst/>
                <a:gdLst/>
                <a:ahLst/>
                <a:cxnLst/>
                <a:rect l="l" t="t" r="r" b="b"/>
                <a:pathLst>
                  <a:path w="2269601" h="257007">
                    <a:moveTo>
                      <a:pt x="0" y="0"/>
                    </a:moveTo>
                    <a:lnTo>
                      <a:pt x="2269601" y="0"/>
                    </a:lnTo>
                    <a:lnTo>
                      <a:pt x="2269601" y="257007"/>
                    </a:lnTo>
                    <a:lnTo>
                      <a:pt x="0" y="257007"/>
                    </a:lnTo>
                    <a:close/>
                  </a:path>
                </a:pathLst>
              </a:custGeom>
              <a:solidFill>
                <a:srgbClr val="0552A1"/>
              </a:solidFill>
            </p:spPr>
          </p:sp>
          <p:sp>
            <p:nvSpPr>
              <p:cNvPr id="36" name="TextBox 36"/>
              <p:cNvSpPr txBox="1"/>
              <p:nvPr/>
            </p:nvSpPr>
            <p:spPr>
              <a:xfrm>
                <a:off x="0" y="-19050"/>
                <a:ext cx="2269601" cy="27605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469"/>
                  </a:lnSpc>
                </a:pPr>
                <a:endParaRPr/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9668347" y="12702"/>
              <a:ext cx="11489853" cy="7798798"/>
              <a:chOff x="0" y="0"/>
              <a:chExt cx="2269601" cy="1540503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0" y="0"/>
                <a:ext cx="2269601" cy="1540503"/>
              </a:xfrm>
              <a:custGeom>
                <a:avLst/>
                <a:gdLst/>
                <a:ahLst/>
                <a:cxnLst/>
                <a:rect l="l" t="t" r="r" b="b"/>
                <a:pathLst>
                  <a:path w="2269601" h="1540503">
                    <a:moveTo>
                      <a:pt x="0" y="0"/>
                    </a:moveTo>
                    <a:lnTo>
                      <a:pt x="2269601" y="0"/>
                    </a:lnTo>
                    <a:lnTo>
                      <a:pt x="2269601" y="1540503"/>
                    </a:lnTo>
                    <a:lnTo>
                      <a:pt x="0" y="1540503"/>
                    </a:lnTo>
                    <a:close/>
                  </a:path>
                </a:pathLst>
              </a:custGeom>
              <a:ln w="19050" cap="sq">
                <a:solidFill>
                  <a:srgbClr val="0552A1"/>
                </a:solidFill>
                <a:prstDash val="solid"/>
                <a:miter/>
              </a:ln>
            </p:spPr>
          </p:sp>
          <p:sp>
            <p:nvSpPr>
              <p:cNvPr id="39" name="TextBox 39"/>
              <p:cNvSpPr txBox="1"/>
              <p:nvPr/>
            </p:nvSpPr>
            <p:spPr>
              <a:xfrm>
                <a:off x="0" y="-19050"/>
                <a:ext cx="2269601" cy="155955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469"/>
                  </a:lnSpc>
                </a:pPr>
                <a:endParaRPr/>
              </a:p>
            </p:txBody>
          </p:sp>
        </p:grpSp>
        <p:sp>
          <p:nvSpPr>
            <p:cNvPr id="40" name="TextBox 40"/>
            <p:cNvSpPr txBox="1"/>
            <p:nvPr/>
          </p:nvSpPr>
          <p:spPr>
            <a:xfrm>
              <a:off x="14210435" y="221080"/>
              <a:ext cx="2405677" cy="8176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179"/>
                </a:lnSpc>
                <a:spcBef>
                  <a:spcPct val="0"/>
                </a:spcBef>
              </a:pPr>
              <a:r>
                <a:rPr lang="en-US" sz="3699" spc="-73">
                  <a:solidFill>
                    <a:srgbClr val="FFFFFF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Ý TƯỞNG </a:t>
              </a:r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10598030" y="2064957"/>
              <a:ext cx="4028857" cy="1561180"/>
              <a:chOff x="0" y="0"/>
              <a:chExt cx="863329" cy="33454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863329" cy="334540"/>
              </a:xfrm>
              <a:custGeom>
                <a:avLst/>
                <a:gdLst/>
                <a:ahLst/>
                <a:cxnLst/>
                <a:rect l="l" t="t" r="r" b="b"/>
                <a:pathLst>
                  <a:path w="863329" h="334540">
                    <a:moveTo>
                      <a:pt x="0" y="0"/>
                    </a:moveTo>
                    <a:lnTo>
                      <a:pt x="863329" y="0"/>
                    </a:lnTo>
                    <a:lnTo>
                      <a:pt x="863329" y="334540"/>
                    </a:lnTo>
                    <a:lnTo>
                      <a:pt x="0" y="334540"/>
                    </a:lnTo>
                    <a:close/>
                  </a:path>
                </a:pathLst>
              </a:custGeom>
              <a:ln w="19050" cap="sq">
                <a:solidFill>
                  <a:srgbClr val="0552A1"/>
                </a:solidFill>
                <a:prstDash val="solid"/>
                <a:miter/>
              </a:ln>
            </p:spPr>
          </p:sp>
          <p:sp>
            <p:nvSpPr>
              <p:cNvPr id="43" name="TextBox 43"/>
              <p:cNvSpPr txBox="1"/>
              <p:nvPr/>
            </p:nvSpPr>
            <p:spPr>
              <a:xfrm>
                <a:off x="0" y="-38100"/>
                <a:ext cx="863329" cy="37264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5199"/>
                  </a:lnSpc>
                </a:pPr>
                <a:endParaRPr/>
              </a:p>
            </p:txBody>
          </p:sp>
        </p:grpSp>
        <p:sp>
          <p:nvSpPr>
            <p:cNvPr id="44" name="TextBox 44"/>
            <p:cNvSpPr txBox="1"/>
            <p:nvPr/>
          </p:nvSpPr>
          <p:spPr>
            <a:xfrm>
              <a:off x="11063751" y="2376705"/>
              <a:ext cx="3249816" cy="8710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79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Một phòng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6420863" y="2376705"/>
              <a:ext cx="3500673" cy="8710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79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Nhiều phòng</a:t>
              </a:r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16156771" y="2064957"/>
              <a:ext cx="4028857" cy="1561180"/>
              <a:chOff x="0" y="0"/>
              <a:chExt cx="863329" cy="33454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863329" cy="334540"/>
              </a:xfrm>
              <a:custGeom>
                <a:avLst/>
                <a:gdLst/>
                <a:ahLst/>
                <a:cxnLst/>
                <a:rect l="l" t="t" r="r" b="b"/>
                <a:pathLst>
                  <a:path w="863329" h="334540">
                    <a:moveTo>
                      <a:pt x="0" y="0"/>
                    </a:moveTo>
                    <a:lnTo>
                      <a:pt x="863329" y="0"/>
                    </a:lnTo>
                    <a:lnTo>
                      <a:pt x="863329" y="334540"/>
                    </a:lnTo>
                    <a:lnTo>
                      <a:pt x="0" y="334540"/>
                    </a:lnTo>
                    <a:close/>
                  </a:path>
                </a:pathLst>
              </a:custGeom>
              <a:ln w="19050" cap="sq">
                <a:solidFill>
                  <a:srgbClr val="0552A1"/>
                </a:solidFill>
                <a:prstDash val="solid"/>
                <a:miter/>
              </a:ln>
            </p:spPr>
          </p:sp>
          <p:sp>
            <p:nvSpPr>
              <p:cNvPr id="48" name="TextBox 48"/>
              <p:cNvSpPr txBox="1"/>
              <p:nvPr/>
            </p:nvSpPr>
            <p:spPr>
              <a:xfrm>
                <a:off x="0" y="-38100"/>
                <a:ext cx="863329" cy="37264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5199"/>
                  </a:lnSpc>
                </a:pPr>
                <a:endParaRPr/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10598030" y="4995344"/>
              <a:ext cx="4028857" cy="1561180"/>
              <a:chOff x="0" y="0"/>
              <a:chExt cx="863329" cy="33454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863329" cy="334540"/>
              </a:xfrm>
              <a:custGeom>
                <a:avLst/>
                <a:gdLst/>
                <a:ahLst/>
                <a:cxnLst/>
                <a:rect l="l" t="t" r="r" b="b"/>
                <a:pathLst>
                  <a:path w="863329" h="334540">
                    <a:moveTo>
                      <a:pt x="0" y="0"/>
                    </a:moveTo>
                    <a:lnTo>
                      <a:pt x="863329" y="0"/>
                    </a:lnTo>
                    <a:lnTo>
                      <a:pt x="863329" y="334540"/>
                    </a:lnTo>
                    <a:lnTo>
                      <a:pt x="0" y="334540"/>
                    </a:lnTo>
                    <a:close/>
                  </a:path>
                </a:pathLst>
              </a:custGeom>
              <a:ln w="19050" cap="sq">
                <a:solidFill>
                  <a:srgbClr val="0552A1"/>
                </a:solidFill>
                <a:prstDash val="solid"/>
                <a:miter/>
              </a:ln>
            </p:spPr>
          </p:sp>
          <p:sp>
            <p:nvSpPr>
              <p:cNvPr id="51" name="TextBox 51"/>
              <p:cNvSpPr txBox="1"/>
              <p:nvPr/>
            </p:nvSpPr>
            <p:spPr>
              <a:xfrm>
                <a:off x="0" y="-38100"/>
                <a:ext cx="863329" cy="37264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5199"/>
                  </a:lnSpc>
                </a:pPr>
                <a:endParaRPr/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16156771" y="4995344"/>
              <a:ext cx="4028857" cy="1561180"/>
              <a:chOff x="0" y="0"/>
              <a:chExt cx="863329" cy="334540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0" y="0"/>
                <a:ext cx="863329" cy="334540"/>
              </a:xfrm>
              <a:custGeom>
                <a:avLst/>
                <a:gdLst/>
                <a:ahLst/>
                <a:cxnLst/>
                <a:rect l="l" t="t" r="r" b="b"/>
                <a:pathLst>
                  <a:path w="863329" h="334540">
                    <a:moveTo>
                      <a:pt x="0" y="0"/>
                    </a:moveTo>
                    <a:lnTo>
                      <a:pt x="863329" y="0"/>
                    </a:lnTo>
                    <a:lnTo>
                      <a:pt x="863329" y="334540"/>
                    </a:lnTo>
                    <a:lnTo>
                      <a:pt x="0" y="334540"/>
                    </a:lnTo>
                    <a:close/>
                  </a:path>
                </a:pathLst>
              </a:custGeom>
              <a:ln w="19050" cap="sq">
                <a:solidFill>
                  <a:srgbClr val="0552A1"/>
                </a:solidFill>
                <a:prstDash val="solid"/>
                <a:miter/>
              </a:ln>
            </p:spPr>
          </p:sp>
          <p:sp>
            <p:nvSpPr>
              <p:cNvPr id="54" name="TextBox 54"/>
              <p:cNvSpPr txBox="1"/>
              <p:nvPr/>
            </p:nvSpPr>
            <p:spPr>
              <a:xfrm>
                <a:off x="0" y="-38100"/>
                <a:ext cx="863329" cy="37264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5199"/>
                  </a:lnSpc>
                </a:pPr>
                <a:endParaRPr/>
              </a:p>
            </p:txBody>
          </p:sp>
        </p:grpSp>
        <p:sp>
          <p:nvSpPr>
            <p:cNvPr id="55" name="TextBox 55"/>
            <p:cNvSpPr txBox="1"/>
            <p:nvPr/>
          </p:nvSpPr>
          <p:spPr>
            <a:xfrm>
              <a:off x="16868251" y="5307092"/>
              <a:ext cx="2605897" cy="8710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79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DS phòng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782980" y="5307092"/>
              <a:ext cx="1658957" cy="8710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79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Menu</a:t>
              </a:r>
            </a:p>
          </p:txBody>
        </p:sp>
        <p:sp>
          <p:nvSpPr>
            <p:cNvPr id="57" name="AutoShape 57"/>
            <p:cNvSpPr/>
            <p:nvPr/>
          </p:nvSpPr>
          <p:spPr>
            <a:xfrm>
              <a:off x="14889896" y="2870947"/>
              <a:ext cx="1003865" cy="0"/>
            </a:xfrm>
            <a:prstGeom prst="line">
              <a:avLst/>
            </a:prstGeom>
            <a:ln w="50800" cap="flat">
              <a:solidFill>
                <a:srgbClr val="0552A1"/>
              </a:solidFill>
              <a:prstDash val="solid"/>
              <a:headEnd type="none" w="sm" len="sm"/>
              <a:tailEnd type="triangle" w="lg" len="med"/>
            </a:ln>
          </p:spPr>
        </p:sp>
        <p:sp>
          <p:nvSpPr>
            <p:cNvPr id="58" name="AutoShape 58"/>
            <p:cNvSpPr/>
            <p:nvPr/>
          </p:nvSpPr>
          <p:spPr>
            <a:xfrm flipH="1">
              <a:off x="14889896" y="5775934"/>
              <a:ext cx="1003865" cy="0"/>
            </a:xfrm>
            <a:prstGeom prst="line">
              <a:avLst/>
            </a:prstGeom>
            <a:ln w="50800" cap="flat">
              <a:solidFill>
                <a:srgbClr val="0552A1"/>
              </a:solidFill>
              <a:prstDash val="solid"/>
              <a:headEnd type="none" w="sm" len="sm"/>
              <a:tailEnd type="triangle" w="lg" len="med"/>
            </a:ln>
          </p:spPr>
        </p:sp>
        <p:sp>
          <p:nvSpPr>
            <p:cNvPr id="59" name="AutoShape 59"/>
            <p:cNvSpPr/>
            <p:nvPr/>
          </p:nvSpPr>
          <p:spPr>
            <a:xfrm>
              <a:off x="18145800" y="3808808"/>
              <a:ext cx="0" cy="1003865"/>
            </a:xfrm>
            <a:prstGeom prst="line">
              <a:avLst/>
            </a:prstGeom>
            <a:ln w="50800" cap="flat">
              <a:solidFill>
                <a:srgbClr val="0552A1"/>
              </a:solidFill>
              <a:prstDash val="solid"/>
              <a:headEnd type="none" w="sm" len="sm"/>
              <a:tailEnd type="triangle" w="lg" len="med"/>
            </a:ln>
          </p:spPr>
        </p:sp>
      </p:grpSp>
      <p:sp>
        <p:nvSpPr>
          <p:cNvPr id="60" name="TextBox 60"/>
          <p:cNvSpPr txBox="1"/>
          <p:nvPr/>
        </p:nvSpPr>
        <p:spPr>
          <a:xfrm>
            <a:off x="478352" y="483971"/>
            <a:ext cx="8113701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71545" lvl="1" indent="-485773" algn="l">
              <a:lnSpc>
                <a:spcPts val="6299"/>
              </a:lnSpc>
              <a:spcBef>
                <a:spcPct val="0"/>
              </a:spcBef>
              <a:buAutoNum type="arabicPeriod"/>
            </a:pPr>
            <a:r>
              <a:rPr lang="en-US" sz="4499" spc="-89">
                <a:solidFill>
                  <a:srgbClr val="0552A1"/>
                </a:solidFill>
                <a:latin typeface="Francois One"/>
                <a:ea typeface="Francois One"/>
                <a:cs typeface="Francois One"/>
                <a:sym typeface="Francois One"/>
              </a:rPr>
              <a:t> TỔNG QUAN CHƯƠNG TRÌNH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038225" y="8007667"/>
            <a:ext cx="16675648" cy="15173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 spc="-83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Ý tưởng chính:</a:t>
            </a:r>
            <a:r>
              <a:rPr lang="en-US" sz="4199" b="1" i="1" spc="-83">
                <a:solidFill>
                  <a:srgbClr val="0552A1"/>
                </a:solidFill>
                <a:latin typeface="Helvetica World Bold Italics"/>
                <a:ea typeface="Helvetica World Bold Italics"/>
                <a:cs typeface="Helvetica World Bold Italics"/>
                <a:sym typeface="Helvetica World Bold Italics"/>
              </a:rPr>
              <a:t> </a:t>
            </a:r>
            <a:r>
              <a:rPr lang="en-US" sz="4199" spc="-83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Mỗi phòng là một đối tượng → nhiều phòng được lưu trong một danh sách → người dùng thao tác thông qua menu.</a:t>
            </a:r>
          </a:p>
        </p:txBody>
      </p:sp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441296" y="3745669"/>
            <a:ext cx="7194983" cy="5512631"/>
            <a:chOff x="0" y="0"/>
            <a:chExt cx="1894975" cy="145188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94975" cy="1451886"/>
            </a:xfrm>
            <a:custGeom>
              <a:avLst/>
              <a:gdLst/>
              <a:ahLst/>
              <a:cxnLst/>
              <a:rect l="l" t="t" r="r" b="b"/>
              <a:pathLst>
                <a:path w="1894975" h="1451886">
                  <a:moveTo>
                    <a:pt x="0" y="0"/>
                  </a:moveTo>
                  <a:lnTo>
                    <a:pt x="1894975" y="0"/>
                  </a:lnTo>
                  <a:lnTo>
                    <a:pt x="1894975" y="1451886"/>
                  </a:lnTo>
                  <a:lnTo>
                    <a:pt x="0" y="1451886"/>
                  </a:lnTo>
                  <a:close/>
                </a:path>
              </a:pathLst>
            </a:custGeom>
            <a:ln w="19050" cap="sq">
              <a:solidFill>
                <a:srgbClr val="0552A1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894975" cy="14709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335645" y="3745669"/>
            <a:ext cx="7194983" cy="5512631"/>
            <a:chOff x="0" y="0"/>
            <a:chExt cx="1894975" cy="145188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894975" cy="1451886"/>
            </a:xfrm>
            <a:custGeom>
              <a:avLst/>
              <a:gdLst/>
              <a:ahLst/>
              <a:cxnLst/>
              <a:rect l="l" t="t" r="r" b="b"/>
              <a:pathLst>
                <a:path w="1894975" h="1451886">
                  <a:moveTo>
                    <a:pt x="0" y="0"/>
                  </a:moveTo>
                  <a:lnTo>
                    <a:pt x="1894975" y="0"/>
                  </a:lnTo>
                  <a:lnTo>
                    <a:pt x="1894975" y="1451886"/>
                  </a:lnTo>
                  <a:lnTo>
                    <a:pt x="0" y="1451886"/>
                  </a:lnTo>
                  <a:close/>
                </a:path>
              </a:pathLst>
            </a:custGeom>
            <a:ln w="19050" cap="sq">
              <a:solidFill>
                <a:srgbClr val="0552A1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19050"/>
              <a:ext cx="1894975" cy="14709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320770" y="934826"/>
            <a:ext cx="8113701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71545" lvl="1" indent="-485773" algn="l">
              <a:lnSpc>
                <a:spcPts val="6299"/>
              </a:lnSpc>
              <a:spcBef>
                <a:spcPct val="0"/>
              </a:spcBef>
              <a:buAutoNum type="arabicPeriod"/>
            </a:pPr>
            <a:r>
              <a:rPr lang="en-US" sz="4499" spc="-89">
                <a:solidFill>
                  <a:srgbClr val="0552A1"/>
                </a:solidFill>
                <a:latin typeface="Francois One"/>
                <a:ea typeface="Francois One"/>
                <a:cs typeface="Francois One"/>
                <a:sym typeface="Francois One"/>
              </a:rPr>
              <a:t> THIẾT KẾ LỚP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70662" y="1775032"/>
            <a:ext cx="17096568" cy="1579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4199" spc="-10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Chương trình gồm </a:t>
            </a:r>
            <a:r>
              <a:rPr lang="en-US" sz="4199" b="1" spc="-104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2 lớp </a:t>
            </a:r>
            <a:r>
              <a:rPr lang="en-US" sz="4199" spc="-10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chính:</a:t>
            </a:r>
            <a:r>
              <a:rPr lang="en-US" sz="4199" b="1" spc="-104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PhongKhachSan, QuanLyKhachSan</a:t>
            </a:r>
          </a:p>
          <a:p>
            <a:pPr marL="906777" lvl="1" indent="-453388" algn="l">
              <a:lnSpc>
                <a:spcPts val="5879"/>
              </a:lnSpc>
              <a:spcBef>
                <a:spcPct val="0"/>
              </a:spcBef>
              <a:buFont typeface="Arial"/>
              <a:buChar char="•"/>
            </a:pPr>
            <a:r>
              <a:rPr lang="en-US" sz="4199" b="1" spc="-104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PhongKhachSan</a:t>
            </a:r>
            <a:r>
              <a:rPr lang="en-US" sz="4199" spc="-10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Dùng để lưu thông tin </a:t>
            </a:r>
            <a:r>
              <a:rPr lang="en-US" sz="4199" b="1" spc="-104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một phòng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71207" y="4027805"/>
            <a:ext cx="6335161" cy="52304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spc="-73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class PhongKhachSan{</a:t>
            </a:r>
          </a:p>
          <a:p>
            <a:pPr algn="l">
              <a:lnSpc>
                <a:spcPts val="5179"/>
              </a:lnSpc>
            </a:pPr>
            <a:r>
              <a:rPr lang="en-US" sz="3699" spc="-73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string MaPhong;</a:t>
            </a:r>
          </a:p>
          <a:p>
            <a:pPr algn="l">
              <a:lnSpc>
                <a:spcPts val="5179"/>
              </a:lnSpc>
            </a:pPr>
            <a:r>
              <a:rPr lang="en-US" sz="3699" spc="-73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string LoaiPhong;</a:t>
            </a:r>
          </a:p>
          <a:p>
            <a:pPr algn="l">
              <a:lnSpc>
                <a:spcPts val="5179"/>
              </a:lnSpc>
            </a:pPr>
            <a:r>
              <a:rPr lang="en-US" sz="3699" spc="-73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int Tang;</a:t>
            </a:r>
          </a:p>
          <a:p>
            <a:pPr algn="l">
              <a:lnSpc>
                <a:spcPts val="5179"/>
              </a:lnSpc>
            </a:pPr>
            <a:r>
              <a:rPr lang="en-US" sz="3699" spc="-73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int SucChua;</a:t>
            </a:r>
          </a:p>
          <a:p>
            <a:pPr algn="l">
              <a:lnSpc>
                <a:spcPts val="5179"/>
              </a:lnSpc>
            </a:pPr>
            <a:r>
              <a:rPr lang="en-US" sz="3699" spc="-73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double GiaThue;</a:t>
            </a:r>
          </a:p>
          <a:p>
            <a:pPr algn="l">
              <a:lnSpc>
                <a:spcPts val="5179"/>
              </a:lnSpc>
            </a:pPr>
            <a:r>
              <a:rPr lang="en-US" sz="3699" spc="-73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bool TrangThai;</a:t>
            </a:r>
          </a:p>
          <a:p>
            <a:pPr algn="l">
              <a:lnSpc>
                <a:spcPts val="5179"/>
              </a:lnSpc>
              <a:spcBef>
                <a:spcPct val="0"/>
              </a:spcBef>
            </a:pPr>
            <a:endParaRPr lang="en-US" sz="3699" spc="-73">
              <a:solidFill>
                <a:srgbClr val="00000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806058" y="4027805"/>
            <a:ext cx="6254156" cy="3916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spc="-73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Ngoài ra có: </a:t>
            </a:r>
          </a:p>
          <a:p>
            <a:pPr algn="l">
              <a:lnSpc>
                <a:spcPts val="5179"/>
              </a:lnSpc>
            </a:pPr>
            <a:r>
              <a:rPr lang="en-US" sz="3699" spc="-73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nhap(); → nhập thông tin phòng</a:t>
            </a:r>
          </a:p>
          <a:p>
            <a:pPr algn="l">
              <a:lnSpc>
                <a:spcPts val="5179"/>
              </a:lnSpc>
            </a:pPr>
            <a:r>
              <a:rPr lang="en-US" sz="3699" spc="-73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xuat();  → xuất thông tin phòng</a:t>
            </a:r>
          </a:p>
          <a:p>
            <a:pPr algn="l">
              <a:lnSpc>
                <a:spcPts val="5179"/>
              </a:lnSpc>
            </a:pPr>
            <a:r>
              <a:rPr lang="en-US" sz="3699" spc="-73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Getter / Setter: lấy và thay đổi dữ liệu</a:t>
            </a:r>
          </a:p>
          <a:p>
            <a:pPr algn="l">
              <a:lnSpc>
                <a:spcPts val="5179"/>
              </a:lnSpc>
              <a:spcBef>
                <a:spcPct val="0"/>
              </a:spcBef>
            </a:pPr>
            <a:r>
              <a:rPr lang="en-US" sz="3699" spc="-73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};</a:t>
            </a:r>
          </a:p>
        </p:txBody>
      </p:sp>
    </p:spTree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41541" y="1028700"/>
            <a:ext cx="17646459" cy="2362301"/>
            <a:chOff x="0" y="0"/>
            <a:chExt cx="23528612" cy="3149735"/>
          </a:xfrm>
        </p:grpSpPr>
        <p:sp>
          <p:nvSpPr>
            <p:cNvPr id="3" name="TextBox 3"/>
            <p:cNvSpPr txBox="1"/>
            <p:nvPr/>
          </p:nvSpPr>
          <p:spPr>
            <a:xfrm>
              <a:off x="0" y="-85725"/>
              <a:ext cx="10818268" cy="98742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971545" lvl="1" indent="-485773" algn="l">
                <a:lnSpc>
                  <a:spcPts val="6299"/>
                </a:lnSpc>
                <a:spcBef>
                  <a:spcPct val="0"/>
                </a:spcBef>
                <a:buAutoNum type="arabicPeriod"/>
              </a:pPr>
              <a:r>
                <a:rPr lang="en-US" sz="4499" spc="-89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 THIẾT KẾ LỚP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33188" y="1069474"/>
              <a:ext cx="22795424" cy="20802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79"/>
                </a:lnSpc>
              </a:pPr>
              <a:r>
                <a:rPr lang="en-US" sz="4199" spc="-104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Chương trình gồm </a:t>
              </a:r>
              <a:r>
                <a:rPr lang="en-US" sz="4199" b="1" spc="-104">
                  <a:solidFill>
                    <a:srgbClr val="0552A1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 lớp </a:t>
              </a:r>
              <a:r>
                <a:rPr lang="en-US" sz="4199" spc="-104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chính:</a:t>
              </a:r>
              <a:r>
                <a:rPr lang="en-US" sz="4199" b="1" spc="-104">
                  <a:solidFill>
                    <a:srgbClr val="0552A1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 PhongKhachSan, QuanLyKhachSan</a:t>
              </a:r>
            </a:p>
            <a:p>
              <a:pPr marL="906777" lvl="1" indent="-453388" algn="l">
                <a:lnSpc>
                  <a:spcPts val="587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4199" b="1" spc="-104">
                  <a:solidFill>
                    <a:srgbClr val="0552A1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QuanLyKhachSan</a:t>
              </a:r>
              <a:r>
                <a:rPr lang="en-US" sz="4199" spc="-104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: Dùng để quản lý </a:t>
              </a:r>
              <a:r>
                <a:rPr lang="en-US" sz="4199" b="1" spc="-104">
                  <a:solidFill>
                    <a:srgbClr val="0552A1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nhiều phòng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920104" y="4203721"/>
            <a:ext cx="7544666" cy="4379054"/>
            <a:chOff x="0" y="0"/>
            <a:chExt cx="10059555" cy="5838739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10059555" cy="5838739"/>
              <a:chOff x="0" y="0"/>
              <a:chExt cx="1987073" cy="1153331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1987073" cy="1153331"/>
              </a:xfrm>
              <a:custGeom>
                <a:avLst/>
                <a:gdLst/>
                <a:ahLst/>
                <a:cxnLst/>
                <a:rect l="l" t="t" r="r" b="b"/>
                <a:pathLst>
                  <a:path w="1987073" h="1153331">
                    <a:moveTo>
                      <a:pt x="0" y="0"/>
                    </a:moveTo>
                    <a:lnTo>
                      <a:pt x="1987073" y="0"/>
                    </a:lnTo>
                    <a:lnTo>
                      <a:pt x="1987073" y="1153331"/>
                    </a:lnTo>
                    <a:lnTo>
                      <a:pt x="0" y="1153331"/>
                    </a:lnTo>
                    <a:close/>
                  </a:path>
                </a:pathLst>
              </a:custGeom>
              <a:ln w="19050" cap="sq">
                <a:solidFill>
                  <a:srgbClr val="0552A1"/>
                </a:solidFill>
                <a:prstDash val="solid"/>
                <a:miter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19050"/>
                <a:ext cx="1987073" cy="117238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469"/>
                  </a:lnSpc>
                </a:pPr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732775" y="489648"/>
              <a:ext cx="9020096" cy="51991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179"/>
                </a:lnSpc>
              </a:pPr>
              <a:r>
                <a:rPr lang="en-US" sz="3699" spc="-73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class QuanLyKhachSan{</a:t>
              </a:r>
            </a:p>
            <a:p>
              <a:pPr algn="l">
                <a:lnSpc>
                  <a:spcPts val="5179"/>
                </a:lnSpc>
              </a:pPr>
              <a:r>
                <a:rPr lang="en-US" sz="3699" spc="-73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PhongKhachSan dsPhong[200];</a:t>
              </a:r>
            </a:p>
            <a:p>
              <a:pPr algn="l">
                <a:lnSpc>
                  <a:spcPts val="5179"/>
                </a:lnSpc>
              </a:pPr>
              <a:r>
                <a:rPr lang="en-US" sz="3699" spc="-73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int n;</a:t>
              </a:r>
            </a:p>
            <a:p>
              <a:pPr algn="l">
                <a:lnSpc>
                  <a:spcPts val="5179"/>
                </a:lnSpc>
              </a:pPr>
              <a:r>
                <a:rPr lang="en-US" sz="3699" spc="-73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     // dsPhong: danh sách phòng</a:t>
              </a:r>
            </a:p>
            <a:p>
              <a:pPr algn="l">
                <a:lnSpc>
                  <a:spcPts val="5179"/>
                </a:lnSpc>
              </a:pPr>
              <a:r>
                <a:rPr lang="en-US" sz="3699" spc="-73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    // n: số lượng phòng hiện tại</a:t>
              </a:r>
            </a:p>
            <a:p>
              <a:pPr algn="l">
                <a:lnSpc>
                  <a:spcPts val="5179"/>
                </a:lnSpc>
                <a:spcBef>
                  <a:spcPct val="0"/>
                </a:spcBef>
              </a:pPr>
              <a:endParaRPr lang="en-US" sz="3699" spc="-73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endParaRPr>
            </a:p>
          </p:txBody>
        </p:sp>
      </p:grpSp>
    </p:spTree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2679733"/>
            <a:ext cx="8114131" cy="1092929"/>
            <a:chOff x="0" y="0"/>
            <a:chExt cx="10818842" cy="1457239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10818842" cy="1457239"/>
              <a:chOff x="0" y="0"/>
              <a:chExt cx="2137055" cy="28785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137055" cy="287850"/>
              </a:xfrm>
              <a:custGeom>
                <a:avLst/>
                <a:gdLst/>
                <a:ahLst/>
                <a:cxnLst/>
                <a:rect l="l" t="t" r="r" b="b"/>
                <a:pathLst>
                  <a:path w="2137055" h="287850">
                    <a:moveTo>
                      <a:pt x="0" y="0"/>
                    </a:moveTo>
                    <a:lnTo>
                      <a:pt x="2137055" y="0"/>
                    </a:lnTo>
                    <a:lnTo>
                      <a:pt x="2137055" y="287850"/>
                    </a:lnTo>
                    <a:lnTo>
                      <a:pt x="0" y="287850"/>
                    </a:lnTo>
                    <a:close/>
                  </a:path>
                </a:pathLst>
              </a:custGeom>
              <a:ln w="19050" cap="sq">
                <a:solidFill>
                  <a:srgbClr val="0552A1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19050"/>
                <a:ext cx="2137055" cy="3069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469"/>
                  </a:lnSpc>
                </a:pPr>
                <a:endParaRPr/>
              </a:p>
            </p:txBody>
          </p:sp>
        </p:grpSp>
        <p:sp>
          <p:nvSpPr>
            <p:cNvPr id="6" name="TextBox 6"/>
            <p:cNvSpPr txBox="1"/>
            <p:nvPr/>
          </p:nvSpPr>
          <p:spPr>
            <a:xfrm>
              <a:off x="788084" y="489648"/>
              <a:ext cx="9700926" cy="8176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179"/>
                </a:lnSpc>
                <a:spcBef>
                  <a:spcPct val="0"/>
                </a:spcBef>
              </a:pPr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67649" y="228239"/>
              <a:ext cx="9662421" cy="9245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79"/>
                </a:lnSpc>
                <a:spcBef>
                  <a:spcPct val="0"/>
                </a:spcBef>
              </a:pPr>
              <a:r>
                <a:rPr lang="en-US" sz="4199" spc="-104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PhongKhachSan dsPhong[200]; </a:t>
              </a: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8700" y="604837"/>
            <a:ext cx="8113701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99"/>
              </a:lnSpc>
              <a:spcBef>
                <a:spcPct val="0"/>
              </a:spcBef>
            </a:pPr>
            <a:r>
              <a:rPr lang="en-US" sz="4499" spc="-89">
                <a:solidFill>
                  <a:srgbClr val="0552A1"/>
                </a:solidFill>
                <a:latin typeface="Francois One"/>
                <a:ea typeface="Francois One"/>
                <a:cs typeface="Francois One"/>
                <a:sym typeface="Francois One"/>
              </a:rPr>
              <a:t>3. THIẾT KẾ DANH SÁCH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1557687"/>
            <a:ext cx="9243448" cy="712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spc="-10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Danh sách phòng được lưu bằng mảng: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48971" y="6642739"/>
            <a:ext cx="8533129" cy="220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9" lvl="1" indent="-431800" algn="l">
              <a:lnSpc>
                <a:spcPts val="5599"/>
              </a:lnSpc>
              <a:spcBef>
                <a:spcPct val="0"/>
              </a:spcBef>
              <a:buFont typeface="Arial"/>
              <a:buChar char="•"/>
            </a:pPr>
            <a:r>
              <a:rPr lang="en-US" sz="3999" spc="-7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Tối đa </a:t>
            </a:r>
            <a:r>
              <a:rPr lang="en-US" sz="3999" b="1" spc="-7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199 phòng</a:t>
            </a:r>
            <a:r>
              <a:rPr lang="en-US" sz="3999" spc="-7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(0 &lt; n &lt; 200) </a:t>
            </a:r>
          </a:p>
          <a:p>
            <a:pPr marL="863599" lvl="1" indent="-431800" algn="l">
              <a:lnSpc>
                <a:spcPts val="5599"/>
              </a:lnSpc>
              <a:spcBef>
                <a:spcPct val="0"/>
              </a:spcBef>
              <a:buFont typeface="Arial"/>
              <a:buChar char="•"/>
            </a:pPr>
            <a:r>
              <a:rPr lang="en-US" sz="3999" spc="-7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Các phòng được lưu từ </a:t>
            </a:r>
            <a:r>
              <a:rPr lang="en-US" sz="3999" b="1" spc="-7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dsPhong[0]</a:t>
            </a:r>
            <a:r>
              <a:rPr lang="en-US" sz="3999" spc="-7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đến </a:t>
            </a:r>
            <a:r>
              <a:rPr lang="en-US" sz="3999" b="1" spc="-7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dsPhong[n-1] 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028700" y="4275203"/>
            <a:ext cx="8153400" cy="1855470"/>
            <a:chOff x="0" y="0"/>
            <a:chExt cx="10871200" cy="2473961"/>
          </a:xfrm>
        </p:grpSpPr>
        <p:sp>
          <p:nvSpPr>
            <p:cNvPr id="13" name="TextBox 13"/>
            <p:cNvSpPr txBox="1"/>
            <p:nvPr/>
          </p:nvSpPr>
          <p:spPr>
            <a:xfrm>
              <a:off x="353310" y="207645"/>
              <a:ext cx="1263705" cy="9340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79"/>
                </a:lnSpc>
                <a:spcBef>
                  <a:spcPct val="0"/>
                </a:spcBef>
              </a:pPr>
              <a:r>
                <a:rPr lang="en-US" sz="4199" spc="-104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P01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094756" y="207645"/>
              <a:ext cx="1263705" cy="9340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79"/>
                </a:lnSpc>
                <a:spcBef>
                  <a:spcPct val="0"/>
                </a:spcBef>
              </a:pPr>
              <a:r>
                <a:rPr lang="en-US" sz="4199" spc="-104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P02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887001" y="207645"/>
              <a:ext cx="1263705" cy="9340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79"/>
                </a:lnSpc>
                <a:spcBef>
                  <a:spcPct val="0"/>
                </a:spcBef>
              </a:pPr>
              <a:r>
                <a:rPr lang="en-US" sz="4199" spc="-104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P03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06267" y="207645"/>
              <a:ext cx="1263705" cy="9340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79"/>
                </a:lnSpc>
                <a:spcBef>
                  <a:spcPct val="0"/>
                </a:spcBef>
              </a:pPr>
              <a:r>
                <a:rPr lang="en-US" sz="4199" spc="-104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P04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852493" y="207645"/>
              <a:ext cx="1263705" cy="9340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79"/>
                </a:lnSpc>
                <a:spcBef>
                  <a:spcPct val="0"/>
                </a:spcBef>
              </a:pPr>
              <a:r>
                <a:rPr lang="en-US" sz="4199" spc="-104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...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179440" y="207645"/>
              <a:ext cx="1691760" cy="9340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79"/>
                </a:lnSpc>
                <a:spcBef>
                  <a:spcPct val="0"/>
                </a:spcBef>
              </a:pPr>
              <a:r>
                <a:rPr lang="en-US" sz="4199" spc="-104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P199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92581" y="1549400"/>
              <a:ext cx="985162" cy="9245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79"/>
                </a:lnSpc>
                <a:spcBef>
                  <a:spcPct val="0"/>
                </a:spcBef>
              </a:pPr>
              <a:r>
                <a:rPr lang="en-US" sz="4199" spc="-104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[0]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234027" y="1549400"/>
              <a:ext cx="985162" cy="9245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79"/>
                </a:lnSpc>
                <a:spcBef>
                  <a:spcPct val="0"/>
                </a:spcBef>
              </a:pPr>
              <a:r>
                <a:rPr lang="en-US" sz="4199" spc="-104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[1]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064372" y="1549400"/>
              <a:ext cx="985162" cy="9245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79"/>
                </a:lnSpc>
                <a:spcBef>
                  <a:spcPct val="0"/>
                </a:spcBef>
              </a:pPr>
              <a:r>
                <a:rPr lang="en-US" sz="4199" spc="-104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[2]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900435" y="1549400"/>
              <a:ext cx="985162" cy="9245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79"/>
                </a:lnSpc>
                <a:spcBef>
                  <a:spcPct val="0"/>
                </a:spcBef>
              </a:pPr>
              <a:r>
                <a:rPr lang="en-US" sz="4199" spc="-104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[3]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216091" y="1549400"/>
              <a:ext cx="1618458" cy="9245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79"/>
                </a:lnSpc>
                <a:spcBef>
                  <a:spcPct val="0"/>
                </a:spcBef>
              </a:pPr>
              <a:r>
                <a:rPr lang="en-US" sz="4199" spc="-104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[n-1]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0" y="0"/>
          <a:ext cx="8096250" cy="1038225"/>
        </p:xfrm>
        <a:graphic>
          <a:graphicData uri="http://schemas.openxmlformats.org/drawingml/2006/table">
            <a:tbl>
              <a:tblPr/>
              <a:tblGrid>
                <a:gridCol w="1349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9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9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49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493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493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038225"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604837"/>
            <a:ext cx="8113701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99"/>
              </a:lnSpc>
              <a:spcBef>
                <a:spcPct val="0"/>
              </a:spcBef>
            </a:pPr>
            <a:r>
              <a:rPr lang="en-US" sz="4499" spc="-89">
                <a:solidFill>
                  <a:srgbClr val="0552A1"/>
                </a:solidFill>
                <a:latin typeface="Francois One"/>
                <a:ea typeface="Francois One"/>
                <a:cs typeface="Francois One"/>
                <a:sym typeface="Francois One"/>
              </a:rPr>
              <a:t>3. THIẾT KẾ DANH SÁCH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109444" y="1702118"/>
            <a:ext cx="10413763" cy="220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spc="-7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Khi thêm / xóa phòng: 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1" spc="-7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Thêm</a:t>
            </a:r>
            <a:r>
              <a:rPr lang="en-US" sz="3999" spc="-7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→ các phần tử phía sau dịch </a:t>
            </a:r>
            <a:r>
              <a:rPr lang="en-US" sz="3999" b="1" spc="-7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sang phải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1" spc="-7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Xóa</a:t>
            </a:r>
            <a:r>
              <a:rPr lang="en-US" sz="3999" spc="-7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→ các phần tử phía sau dịch</a:t>
            </a:r>
            <a:r>
              <a:rPr lang="en-US" sz="3999" b="1" spc="-7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sang trái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109444" y="4431348"/>
            <a:ext cx="16957292" cy="4611636"/>
            <a:chOff x="0" y="0"/>
            <a:chExt cx="22609723" cy="6148847"/>
          </a:xfrm>
        </p:grpSpPr>
        <p:sp>
          <p:nvSpPr>
            <p:cNvPr id="5" name="TextBox 5"/>
            <p:cNvSpPr txBox="1"/>
            <p:nvPr/>
          </p:nvSpPr>
          <p:spPr>
            <a:xfrm>
              <a:off x="0" y="1313534"/>
              <a:ext cx="10143324" cy="46871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b="1" spc="-99">
                  <a:solidFill>
                    <a:srgbClr val="0552A1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Trước:</a:t>
              </a:r>
              <a:r>
                <a:rPr lang="en-US" sz="3999" spc="-99">
                  <a:solidFill>
                    <a:srgbClr val="000000"/>
                  </a:solidFill>
                  <a:latin typeface="Noto Sans"/>
                  <a:ea typeface="Noto Sans"/>
                  <a:cs typeface="Noto Sans"/>
                  <a:sym typeface="Noto Sans"/>
                </a:rPr>
                <a:t> P01   P02   P03   P04  </a:t>
              </a:r>
            </a:p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99">
                  <a:solidFill>
                    <a:srgbClr val="000000"/>
                  </a:solidFill>
                  <a:latin typeface="Noto Sans"/>
                  <a:ea typeface="Noto Sans"/>
                  <a:cs typeface="Noto Sans"/>
                  <a:sym typeface="Noto Sans"/>
                </a:rPr>
                <a:t>                                           </a:t>
              </a:r>
            </a:p>
            <a:p>
              <a:pPr algn="l">
                <a:lnSpc>
                  <a:spcPts val="5599"/>
                </a:lnSpc>
                <a:spcBef>
                  <a:spcPct val="0"/>
                </a:spcBef>
              </a:pPr>
              <a:endParaRPr lang="en-US" sz="3999" spc="-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b="1" spc="-99">
                  <a:solidFill>
                    <a:srgbClr val="0552A1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Sau: </a:t>
              </a:r>
              <a:r>
                <a:rPr lang="en-US" sz="3999" spc="-99">
                  <a:solidFill>
                    <a:srgbClr val="000000"/>
                  </a:solidFill>
                  <a:latin typeface="Noto Sans"/>
                  <a:ea typeface="Noto Sans"/>
                  <a:cs typeface="Noto Sans"/>
                  <a:sym typeface="Noto Sans"/>
                </a:rPr>
                <a:t>    P01   P02   P05   P03   P04</a:t>
              </a:r>
            </a:p>
            <a:p>
              <a:pPr algn="l">
                <a:lnSpc>
                  <a:spcPts val="5879"/>
                </a:lnSpc>
                <a:spcBef>
                  <a:spcPct val="0"/>
                </a:spcBef>
              </a:pPr>
              <a:endParaRPr lang="en-US" sz="3999" spc="-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  <p:sp>
          <p:nvSpPr>
            <p:cNvPr id="6" name="AutoShape 6"/>
            <p:cNvSpPr/>
            <p:nvPr/>
          </p:nvSpPr>
          <p:spPr>
            <a:xfrm>
              <a:off x="5930111" y="2553436"/>
              <a:ext cx="0" cy="1141771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6467439" y="2566136"/>
              <a:ext cx="1749339" cy="8805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79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thêm</a:t>
              </a:r>
            </a:p>
          </p:txBody>
        </p:sp>
        <p:sp>
          <p:nvSpPr>
            <p:cNvPr id="8" name="AutoShape 8"/>
            <p:cNvSpPr/>
            <p:nvPr/>
          </p:nvSpPr>
          <p:spPr>
            <a:xfrm>
              <a:off x="8853550" y="5772081"/>
              <a:ext cx="769131" cy="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4498808" y="5268314"/>
              <a:ext cx="4570642" cy="8805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79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dịch sang phải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2466399" y="1313534"/>
              <a:ext cx="10143324" cy="46871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b="1" spc="-99">
                  <a:solidFill>
                    <a:srgbClr val="0552A1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Trước:</a:t>
              </a:r>
              <a:r>
                <a:rPr lang="en-US" sz="3999" spc="-99">
                  <a:solidFill>
                    <a:srgbClr val="000000"/>
                  </a:solidFill>
                  <a:latin typeface="Noto Sans"/>
                  <a:ea typeface="Noto Sans"/>
                  <a:cs typeface="Noto Sans"/>
                  <a:sym typeface="Noto Sans"/>
                </a:rPr>
                <a:t> P01   P02   P03   P04  </a:t>
              </a:r>
            </a:p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99">
                  <a:solidFill>
                    <a:srgbClr val="000000"/>
                  </a:solidFill>
                  <a:latin typeface="Noto Sans"/>
                  <a:ea typeface="Noto Sans"/>
                  <a:cs typeface="Noto Sans"/>
                  <a:sym typeface="Noto Sans"/>
                </a:rPr>
                <a:t>                                           </a:t>
              </a:r>
            </a:p>
            <a:p>
              <a:pPr algn="l">
                <a:lnSpc>
                  <a:spcPts val="5599"/>
                </a:lnSpc>
                <a:spcBef>
                  <a:spcPct val="0"/>
                </a:spcBef>
              </a:pPr>
              <a:endParaRPr lang="en-US" sz="3999" spc="-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b="1" spc="-99">
                  <a:solidFill>
                    <a:srgbClr val="0552A1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Sau: </a:t>
              </a:r>
              <a:r>
                <a:rPr lang="en-US" sz="3999" spc="-99">
                  <a:solidFill>
                    <a:srgbClr val="000000"/>
                  </a:solidFill>
                  <a:latin typeface="Noto Sans"/>
                  <a:ea typeface="Noto Sans"/>
                  <a:cs typeface="Noto Sans"/>
                  <a:sym typeface="Noto Sans"/>
                </a:rPr>
                <a:t>    P01   P03   P04   </a:t>
              </a:r>
            </a:p>
            <a:p>
              <a:pPr algn="l">
                <a:lnSpc>
                  <a:spcPts val="5879"/>
                </a:lnSpc>
                <a:spcBef>
                  <a:spcPct val="0"/>
                </a:spcBef>
              </a:pPr>
              <a:endParaRPr lang="en-US" sz="3999" spc="-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  <p:sp>
          <p:nvSpPr>
            <p:cNvPr id="11" name="AutoShape 11"/>
            <p:cNvSpPr/>
            <p:nvPr/>
          </p:nvSpPr>
          <p:spPr>
            <a:xfrm>
              <a:off x="16876307" y="2553436"/>
              <a:ext cx="0" cy="1141771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7399588" y="2674974"/>
              <a:ext cx="1749339" cy="8805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79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xóa</a:t>
              </a:r>
            </a:p>
          </p:txBody>
        </p:sp>
        <p:sp>
          <p:nvSpPr>
            <p:cNvPr id="13" name="AutoShape 13"/>
            <p:cNvSpPr/>
            <p:nvPr/>
          </p:nvSpPr>
          <p:spPr>
            <a:xfrm flipH="1">
              <a:off x="16792975" y="5797481"/>
              <a:ext cx="769131" cy="0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7739907" y="5268314"/>
              <a:ext cx="4570642" cy="8805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79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dịch sang trái</a:t>
              </a:r>
            </a:p>
          </p:txBody>
        </p:sp>
        <p:sp>
          <p:nvSpPr>
            <p:cNvPr id="15" name="AutoShape 15"/>
            <p:cNvSpPr/>
            <p:nvPr/>
          </p:nvSpPr>
          <p:spPr>
            <a:xfrm flipV="1">
              <a:off x="11304861" y="901701"/>
              <a:ext cx="0" cy="5247147"/>
            </a:xfrm>
            <a:prstGeom prst="line">
              <a:avLst/>
            </a:prstGeom>
            <a:ln w="508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2960598" y="-85725"/>
              <a:ext cx="4430553" cy="98742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6299"/>
                </a:lnSpc>
                <a:spcBef>
                  <a:spcPct val="0"/>
                </a:spcBef>
              </a:pPr>
              <a:r>
                <a:rPr lang="en-US" sz="4499" spc="-89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THÊM PHÒNG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820932" y="-85725"/>
              <a:ext cx="4430553" cy="98742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6299"/>
                </a:lnSpc>
                <a:spcBef>
                  <a:spcPct val="0"/>
                </a:spcBef>
              </a:pPr>
              <a:r>
                <a:rPr lang="en-US" sz="4499" spc="-89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XÓA PHÒNG</a:t>
              </a:r>
            </a:p>
          </p:txBody>
        </p:sp>
      </p:grpSp>
    </p:spTree>
  </p:cSld>
  <p:clrMapOvr>
    <a:masterClrMapping/>
  </p:clrMapOvr>
  <p:transition spd="slow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2832" y="604837"/>
            <a:ext cx="8113701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71545" lvl="1" indent="-485773" algn="l">
              <a:lnSpc>
                <a:spcPts val="6299"/>
              </a:lnSpc>
              <a:spcBef>
                <a:spcPct val="0"/>
              </a:spcBef>
              <a:buAutoNum type="arabicPeriod"/>
            </a:pPr>
            <a:r>
              <a:rPr lang="en-US" sz="4499" spc="-89">
                <a:solidFill>
                  <a:srgbClr val="0552A1"/>
                </a:solidFill>
                <a:latin typeface="Francois One"/>
                <a:ea typeface="Francois One"/>
                <a:cs typeface="Francois One"/>
                <a:sym typeface="Francois One"/>
              </a:rPr>
              <a:t> CHỨC NĂNG NHẬP PHÒNG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1471613"/>
            <a:ext cx="7305602" cy="7743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spc="-10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Hàm thực hiện: </a:t>
            </a:r>
            <a:r>
              <a:rPr lang="en-US" sz="4199" b="1" spc="-104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void nhap( );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28700" y="2769003"/>
            <a:ext cx="16230600" cy="6296642"/>
            <a:chOff x="0" y="0"/>
            <a:chExt cx="21640800" cy="8395522"/>
          </a:xfrm>
        </p:grpSpPr>
        <p:sp>
          <p:nvSpPr>
            <p:cNvPr id="5" name="TextBox 5"/>
            <p:cNvSpPr txBox="1"/>
            <p:nvPr/>
          </p:nvSpPr>
          <p:spPr>
            <a:xfrm>
              <a:off x="1542059" y="361558"/>
              <a:ext cx="4765481" cy="8176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179"/>
                </a:lnSpc>
                <a:spcBef>
                  <a:spcPct val="0"/>
                </a:spcBef>
              </a:pPr>
              <a:r>
                <a:rPr lang="en-US" sz="3699" spc="-73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CÁCH HOẠT ĐỘNG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2114759" y="361558"/>
              <a:ext cx="6665505" cy="8176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179"/>
                </a:lnSpc>
                <a:spcBef>
                  <a:spcPct val="0"/>
                </a:spcBef>
              </a:pPr>
              <a:r>
                <a:rPr lang="en-US" sz="3699" spc="-73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CHƯƠNG TRÌNH KIỂM TRA</a:t>
              </a:r>
            </a:p>
          </p:txBody>
        </p:sp>
        <p:grpSp>
          <p:nvGrpSpPr>
            <p:cNvPr id="7" name="Group 7"/>
            <p:cNvGrpSpPr/>
            <p:nvPr/>
          </p:nvGrpSpPr>
          <p:grpSpPr>
            <a:xfrm>
              <a:off x="0" y="0"/>
              <a:ext cx="7849600" cy="8255822"/>
              <a:chOff x="0" y="0"/>
              <a:chExt cx="1550538" cy="163078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1550538" cy="1630780"/>
              </a:xfrm>
              <a:custGeom>
                <a:avLst/>
                <a:gdLst/>
                <a:ahLst/>
                <a:cxnLst/>
                <a:rect l="l" t="t" r="r" b="b"/>
                <a:pathLst>
                  <a:path w="1550538" h="1630780">
                    <a:moveTo>
                      <a:pt x="0" y="0"/>
                    </a:moveTo>
                    <a:lnTo>
                      <a:pt x="1550538" y="0"/>
                    </a:lnTo>
                    <a:lnTo>
                      <a:pt x="1550538" y="1630780"/>
                    </a:lnTo>
                    <a:lnTo>
                      <a:pt x="0" y="1630780"/>
                    </a:lnTo>
                    <a:close/>
                  </a:path>
                </a:pathLst>
              </a:custGeom>
              <a:ln w="19050" cap="sq">
                <a:solidFill>
                  <a:srgbClr val="0552A1"/>
                </a:solidFill>
                <a:prstDash val="solid"/>
                <a:miter/>
              </a:ln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0" y="-19050"/>
                <a:ext cx="1550538" cy="16498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469"/>
                  </a:lnSpc>
                </a:pPr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490090" y="1527362"/>
              <a:ext cx="6424398" cy="68681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906777" lvl="1" indent="-453388" algn="l">
                <a:lnSpc>
                  <a:spcPts val="5879"/>
                </a:lnSpc>
                <a:buFont typeface="Arial"/>
                <a:buChar char="•"/>
              </a:pPr>
              <a:r>
                <a:rPr lang="en-US" sz="4199" spc="-104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Nhập mã phòng</a:t>
              </a:r>
            </a:p>
            <a:p>
              <a:pPr marL="906777" lvl="1" indent="-453388" algn="l">
                <a:lnSpc>
                  <a:spcPts val="5879"/>
                </a:lnSpc>
                <a:buFont typeface="Arial"/>
                <a:buChar char="•"/>
              </a:pPr>
              <a:r>
                <a:rPr lang="en-US" sz="4199" spc="-104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Nhập loại phòng</a:t>
              </a:r>
            </a:p>
            <a:p>
              <a:pPr marL="906777" lvl="1" indent="-453388" algn="l">
                <a:lnSpc>
                  <a:spcPts val="5879"/>
                </a:lnSpc>
                <a:buFont typeface="Arial"/>
                <a:buChar char="•"/>
              </a:pPr>
              <a:r>
                <a:rPr lang="en-US" sz="4199" spc="-104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Nhập tầng</a:t>
              </a:r>
            </a:p>
            <a:p>
              <a:pPr marL="906777" lvl="1" indent="-453388" algn="l">
                <a:lnSpc>
                  <a:spcPts val="5879"/>
                </a:lnSpc>
                <a:buFont typeface="Arial"/>
                <a:buChar char="•"/>
              </a:pPr>
              <a:r>
                <a:rPr lang="en-US" sz="4199" spc="-104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Nhập sức chứa</a:t>
              </a:r>
            </a:p>
            <a:p>
              <a:pPr marL="906777" lvl="1" indent="-453388" algn="l">
                <a:lnSpc>
                  <a:spcPts val="5879"/>
                </a:lnSpc>
                <a:buFont typeface="Arial"/>
                <a:buChar char="•"/>
              </a:pPr>
              <a:r>
                <a:rPr lang="en-US" sz="4199" spc="-104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Nhập giá thuê</a:t>
              </a:r>
            </a:p>
            <a:p>
              <a:pPr marL="906777" lvl="1" indent="-453388" algn="l">
                <a:lnSpc>
                  <a:spcPts val="5879"/>
                </a:lnSpc>
                <a:buFont typeface="Arial"/>
                <a:buChar char="•"/>
              </a:pPr>
              <a:r>
                <a:rPr lang="en-US" sz="4199" spc="-104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Nhập trạng thái</a:t>
              </a:r>
            </a:p>
            <a:p>
              <a:pPr algn="l">
                <a:lnSpc>
                  <a:spcPts val="5879"/>
                </a:lnSpc>
                <a:spcBef>
                  <a:spcPct val="0"/>
                </a:spcBef>
              </a:pPr>
              <a:endParaRPr lang="en-US" sz="4199" spc="-10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endParaRPr>
            </a:p>
          </p:txBody>
        </p:sp>
        <p:grpSp>
          <p:nvGrpSpPr>
            <p:cNvPr id="11" name="Group 11"/>
            <p:cNvGrpSpPr/>
            <p:nvPr/>
          </p:nvGrpSpPr>
          <p:grpSpPr>
            <a:xfrm>
              <a:off x="9254223" y="0"/>
              <a:ext cx="12386577" cy="8255822"/>
              <a:chOff x="0" y="0"/>
              <a:chExt cx="2446731" cy="163078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2446731" cy="1630780"/>
              </a:xfrm>
              <a:custGeom>
                <a:avLst/>
                <a:gdLst/>
                <a:ahLst/>
                <a:cxnLst/>
                <a:rect l="l" t="t" r="r" b="b"/>
                <a:pathLst>
                  <a:path w="2446731" h="1630780">
                    <a:moveTo>
                      <a:pt x="0" y="0"/>
                    </a:moveTo>
                    <a:lnTo>
                      <a:pt x="2446731" y="0"/>
                    </a:lnTo>
                    <a:lnTo>
                      <a:pt x="2446731" y="1630780"/>
                    </a:lnTo>
                    <a:lnTo>
                      <a:pt x="0" y="1630780"/>
                    </a:lnTo>
                    <a:close/>
                  </a:path>
                </a:pathLst>
              </a:custGeom>
              <a:ln w="19050" cap="sq">
                <a:solidFill>
                  <a:srgbClr val="0552A1"/>
                </a:solidFill>
                <a:prstDash val="solid"/>
                <a:miter/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0" y="-19050"/>
                <a:ext cx="2446731" cy="16498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469"/>
                  </a:lnSpc>
                </a:pPr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9782555" y="1768662"/>
              <a:ext cx="11329914" cy="58775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906777" lvl="1" indent="-453388" algn="l">
                <a:lnSpc>
                  <a:spcPts val="5879"/>
                </a:lnSpc>
                <a:buFont typeface="Arial"/>
                <a:buChar char="•"/>
              </a:pPr>
              <a:r>
                <a:rPr lang="en-US" sz="4199" spc="-104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Tầng &gt; 0</a:t>
              </a:r>
            </a:p>
            <a:p>
              <a:pPr marL="906777" lvl="1" indent="-453388" algn="l">
                <a:lnSpc>
                  <a:spcPts val="5879"/>
                </a:lnSpc>
                <a:buFont typeface="Arial"/>
                <a:buChar char="•"/>
              </a:pPr>
              <a:r>
                <a:rPr lang="en-US" sz="4199" spc="-104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Sức chứa &gt; 0</a:t>
              </a:r>
            </a:p>
            <a:p>
              <a:pPr marL="906777" lvl="1" indent="-453388" algn="l">
                <a:lnSpc>
                  <a:spcPts val="5879"/>
                </a:lnSpc>
                <a:buFont typeface="Arial"/>
                <a:buChar char="•"/>
              </a:pPr>
              <a:r>
                <a:rPr lang="en-US" sz="4199" spc="-104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Giá thuê &gt; 0</a:t>
              </a:r>
            </a:p>
            <a:p>
              <a:pPr marL="906777" lvl="1" indent="-453388" algn="l">
                <a:lnSpc>
                  <a:spcPts val="5879"/>
                </a:lnSpc>
                <a:buFont typeface="Arial"/>
                <a:buChar char="•"/>
              </a:pPr>
              <a:r>
                <a:rPr lang="en-US" sz="4199" spc="-104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Trạng thái = 0 hoặc 1</a:t>
              </a:r>
            </a:p>
            <a:p>
              <a:pPr marL="906777" lvl="1" indent="-453388" algn="l">
                <a:lnSpc>
                  <a:spcPts val="5879"/>
                </a:lnSpc>
                <a:buFont typeface="Arial"/>
                <a:buChar char="•"/>
              </a:pPr>
              <a:r>
                <a:rPr lang="en-US" sz="4199" spc="-104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Nếu nhập sai → yêu cầu nhập lại.</a:t>
              </a:r>
            </a:p>
            <a:p>
              <a:pPr algn="l">
                <a:lnSpc>
                  <a:spcPts val="5879"/>
                </a:lnSpc>
                <a:spcBef>
                  <a:spcPct val="0"/>
                </a:spcBef>
              </a:pPr>
              <a:endParaRPr lang="en-US" sz="4199" spc="-10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endParaRPr>
            </a:p>
          </p:txBody>
        </p:sp>
      </p:grpSp>
    </p:spTree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2832" y="604837"/>
            <a:ext cx="8113701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71545" lvl="1" indent="-485773" algn="l">
              <a:lnSpc>
                <a:spcPts val="6299"/>
              </a:lnSpc>
              <a:spcBef>
                <a:spcPct val="0"/>
              </a:spcBef>
              <a:buAutoNum type="arabicPeriod"/>
            </a:pPr>
            <a:r>
              <a:rPr lang="en-US" sz="4499" spc="-89">
                <a:solidFill>
                  <a:srgbClr val="0552A1"/>
                </a:solidFill>
                <a:latin typeface="Francois One"/>
                <a:ea typeface="Francois One"/>
                <a:cs typeface="Francois One"/>
                <a:sym typeface="Francois One"/>
              </a:rPr>
              <a:t> NHẬP DANH SÁCH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1471613"/>
            <a:ext cx="9733884" cy="736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Hàm thực hiện: </a:t>
            </a:r>
            <a:r>
              <a:rPr lang="en-US" sz="3999" b="1" spc="-9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void nhapDanhSach( );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28700" y="2769003"/>
            <a:ext cx="16230600" cy="3697359"/>
            <a:chOff x="0" y="0"/>
            <a:chExt cx="4274726" cy="97379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274726" cy="973790"/>
            </a:xfrm>
            <a:custGeom>
              <a:avLst/>
              <a:gdLst/>
              <a:ahLst/>
              <a:cxnLst/>
              <a:rect l="l" t="t" r="r" b="b"/>
              <a:pathLst>
                <a:path w="4274726" h="973790">
                  <a:moveTo>
                    <a:pt x="0" y="0"/>
                  </a:moveTo>
                  <a:lnTo>
                    <a:pt x="4274726" y="0"/>
                  </a:lnTo>
                  <a:lnTo>
                    <a:pt x="4274726" y="973790"/>
                  </a:lnTo>
                  <a:lnTo>
                    <a:pt x="0" y="973790"/>
                  </a:lnTo>
                  <a:close/>
                </a:path>
              </a:pathLst>
            </a:custGeom>
            <a:ln w="19050" cap="sq">
              <a:solidFill>
                <a:srgbClr val="0552A1"/>
              </a:solidFill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4274726" cy="9928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194044" y="3696504"/>
            <a:ext cx="14984976" cy="2089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8" lvl="1" indent="-431799" algn="l">
              <a:lnSpc>
                <a:spcPts val="5599"/>
              </a:lnSpc>
              <a:spcBef>
                <a:spcPct val="0"/>
              </a:spcBef>
              <a:buFont typeface="Arial"/>
              <a:buChar char="•"/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Nhập số lượng phòng n</a:t>
            </a:r>
          </a:p>
          <a:p>
            <a:pPr marL="863598" lvl="1" indent="-431799" algn="l">
              <a:lnSpc>
                <a:spcPts val="5599"/>
              </a:lnSpc>
              <a:spcBef>
                <a:spcPct val="0"/>
              </a:spcBef>
              <a:buFont typeface="Arial"/>
              <a:buChar char="•"/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Chương trình sử dụng vòng lặp, để nhập lần lượt từng phòng đồng thời kiểm tra mã phòng không được trùng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106417" y="3015784"/>
            <a:ext cx="3621762" cy="575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 b="1" spc="-80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CÁCH HOẠT ĐỘNG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476170" y="6804645"/>
            <a:ext cx="1310953" cy="628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 spc="-84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LOGIC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028700" y="7837619"/>
            <a:ext cx="16230600" cy="1420681"/>
            <a:chOff x="0" y="0"/>
            <a:chExt cx="4274726" cy="37417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274726" cy="374171"/>
            </a:xfrm>
            <a:custGeom>
              <a:avLst/>
              <a:gdLst/>
              <a:ahLst/>
              <a:cxnLst/>
              <a:rect l="l" t="t" r="r" b="b"/>
              <a:pathLst>
                <a:path w="4274726" h="374171">
                  <a:moveTo>
                    <a:pt x="0" y="0"/>
                  </a:moveTo>
                  <a:lnTo>
                    <a:pt x="4274726" y="0"/>
                  </a:lnTo>
                  <a:lnTo>
                    <a:pt x="4274726" y="374171"/>
                  </a:lnTo>
                  <a:lnTo>
                    <a:pt x="0" y="374171"/>
                  </a:lnTo>
                  <a:close/>
                </a:path>
              </a:pathLst>
            </a:custGeom>
            <a:ln w="19050" cap="sq">
              <a:solidFill>
                <a:srgbClr val="0552A1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4274726" cy="4122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19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297049" y="8167332"/>
            <a:ext cx="1545729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Nhập n</a:t>
            </a:r>
          </a:p>
        </p:txBody>
      </p:sp>
      <p:sp>
        <p:nvSpPr>
          <p:cNvPr id="14" name="TextBox 14"/>
          <p:cNvSpPr txBox="1"/>
          <p:nvPr/>
        </p:nvSpPr>
        <p:spPr>
          <a:xfrm rot="-5400000">
            <a:off x="2738667" y="8247372"/>
            <a:ext cx="811470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↓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522228" y="8167332"/>
            <a:ext cx="3011314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Nhập phòng 1</a:t>
            </a:r>
          </a:p>
        </p:txBody>
      </p:sp>
      <p:sp>
        <p:nvSpPr>
          <p:cNvPr id="16" name="TextBox 16"/>
          <p:cNvSpPr txBox="1"/>
          <p:nvPr/>
        </p:nvSpPr>
        <p:spPr>
          <a:xfrm rot="-5400000">
            <a:off x="6419906" y="8247372"/>
            <a:ext cx="811470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↓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203466" y="8167332"/>
            <a:ext cx="2545556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Kiểm tra mã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9644913" y="8247372"/>
            <a:ext cx="811470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↓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428473" y="8105161"/>
            <a:ext cx="3011314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Nhập phòng 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3580383" y="8105161"/>
            <a:ext cx="385316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...</a:t>
            </a:r>
          </a:p>
        </p:txBody>
      </p:sp>
      <p:sp>
        <p:nvSpPr>
          <p:cNvPr id="21" name="TextBox 21"/>
          <p:cNvSpPr txBox="1"/>
          <p:nvPr/>
        </p:nvSpPr>
        <p:spPr>
          <a:xfrm rot="-5400000">
            <a:off x="13842538" y="8221942"/>
            <a:ext cx="811470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↓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622924" y="8079732"/>
            <a:ext cx="2471663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Hoàn thành</a:t>
            </a:r>
          </a:p>
        </p:txBody>
      </p:sp>
    </p:spTree>
  </p:cSld>
  <p:clrMapOvr>
    <a:masterClrMapping/>
  </p:clrMapOvr>
  <p:transition spd="slow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2832" y="604837"/>
            <a:ext cx="8113701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71545" lvl="1" indent="-485773" algn="l">
              <a:lnSpc>
                <a:spcPts val="6299"/>
              </a:lnSpc>
              <a:spcBef>
                <a:spcPct val="0"/>
              </a:spcBef>
              <a:buAutoNum type="arabicPeriod"/>
            </a:pPr>
            <a:r>
              <a:rPr lang="en-US" sz="4499" spc="-89">
                <a:solidFill>
                  <a:srgbClr val="0552A1"/>
                </a:solidFill>
                <a:latin typeface="Francois One"/>
                <a:ea typeface="Francois One"/>
                <a:cs typeface="Francois One"/>
                <a:sym typeface="Francois One"/>
              </a:rPr>
              <a:t> SẮP XẾP THEO GIÁ THUÊ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1471613"/>
            <a:ext cx="11433682" cy="769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spc="-10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Hàm thực hiện: </a:t>
            </a:r>
            <a:r>
              <a:rPr lang="en-US" sz="4199" b="1" spc="-104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void sapXepTheoGiaTangDan( );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2346008"/>
            <a:ext cx="11683603" cy="712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79"/>
              </a:lnSpc>
              <a:spcBef>
                <a:spcPct val="0"/>
              </a:spcBef>
            </a:pPr>
            <a:r>
              <a:rPr lang="en-US" sz="4199" spc="-10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Mục đích: sắp xếp phòng theo giá thuê từ thấp → cao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3163254"/>
            <a:ext cx="2407920" cy="765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79"/>
              </a:lnSpc>
              <a:spcBef>
                <a:spcPct val="0"/>
              </a:spcBef>
            </a:pPr>
            <a:r>
              <a:rPr lang="en-US" sz="4199" b="1" spc="-104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Ý TƯỞNG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1577" y="4033839"/>
            <a:ext cx="15329911" cy="1517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sz="4200" spc="-105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 sánh giá của từng phòng nếu phòng trước có giá lớn hơn phòng sau → đổi </a:t>
            </a:r>
            <a:r>
              <a:rPr lang="en-US" sz="4200" b="1" spc="-105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vị trí.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6060440"/>
            <a:ext cx="1355288" cy="765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79"/>
              </a:lnSpc>
              <a:spcBef>
                <a:spcPct val="0"/>
              </a:spcBef>
            </a:pPr>
            <a:r>
              <a:rPr lang="en-US" sz="4199" b="1" spc="-104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VÍ DỤ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3227913" y="6136640"/>
            <a:ext cx="5458620" cy="1141912"/>
            <a:chOff x="0" y="0"/>
            <a:chExt cx="7278160" cy="1522550"/>
          </a:xfrm>
        </p:grpSpPr>
        <p:sp>
          <p:nvSpPr>
            <p:cNvPr id="10" name="TextBox 10"/>
            <p:cNvSpPr txBox="1"/>
            <p:nvPr/>
          </p:nvSpPr>
          <p:spPr>
            <a:xfrm>
              <a:off x="505248" y="149448"/>
              <a:ext cx="848900" cy="5361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429"/>
                </a:lnSpc>
                <a:spcBef>
                  <a:spcPct val="0"/>
                </a:spcBef>
              </a:pPr>
              <a:r>
                <a:rPr lang="en-US" sz="2449" spc="-61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5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38056" y="149448"/>
              <a:ext cx="848900" cy="5361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429"/>
                </a:lnSpc>
                <a:spcBef>
                  <a:spcPct val="0"/>
                </a:spcBef>
              </a:pPr>
              <a:r>
                <a:rPr lang="en-US" sz="2449" spc="-61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3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967599" y="132673"/>
              <a:ext cx="848900" cy="5361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429"/>
                </a:lnSpc>
                <a:spcBef>
                  <a:spcPct val="0"/>
                </a:spcBef>
              </a:pPr>
              <a:r>
                <a:rPr lang="en-US" sz="2449" spc="-61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7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4105" y="149448"/>
              <a:ext cx="130433" cy="5361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429"/>
                </a:lnSpc>
                <a:spcBef>
                  <a:spcPct val="0"/>
                </a:spcBef>
              </a:pPr>
              <a:r>
                <a:rPr lang="en-US" sz="2449" spc="-61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274949" y="149448"/>
              <a:ext cx="848900" cy="5361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429"/>
                </a:lnSpc>
                <a:spcBef>
                  <a:spcPct val="0"/>
                </a:spcBef>
              </a:pPr>
              <a:r>
                <a:rPr lang="en-US" sz="2449" spc="-61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499225" y="149448"/>
              <a:ext cx="312303" cy="5361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429"/>
                </a:lnSpc>
                <a:spcBef>
                  <a:spcPct val="0"/>
                </a:spcBef>
              </a:pPr>
              <a:r>
                <a:rPr lang="en-US" sz="2449" spc="-61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8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30894" y="1053904"/>
              <a:ext cx="661787" cy="4686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09"/>
                </a:lnSpc>
                <a:spcBef>
                  <a:spcPct val="0"/>
                </a:spcBef>
              </a:pPr>
              <a:endParaRPr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500718" y="1053904"/>
              <a:ext cx="661787" cy="4686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09"/>
                </a:lnSpc>
                <a:spcBef>
                  <a:spcPct val="0"/>
                </a:spcBef>
              </a:pPr>
              <a:endParaRPr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730261" y="1053904"/>
              <a:ext cx="661787" cy="4686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09"/>
                </a:lnSpc>
                <a:spcBef>
                  <a:spcPct val="0"/>
                </a:spcBef>
              </a:pPr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963645" y="1053904"/>
              <a:ext cx="661787" cy="4686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09"/>
                </a:lnSpc>
                <a:spcBef>
                  <a:spcPct val="0"/>
                </a:spcBef>
              </a:pPr>
              <a:endParaRPr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190953" y="1053904"/>
              <a:ext cx="1087207" cy="4686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09"/>
                </a:lnSpc>
                <a:spcBef>
                  <a:spcPct val="0"/>
                </a:spcBef>
              </a:pPr>
              <a:endParaRPr/>
            </a:p>
          </p:txBody>
        </p:sp>
      </p:grp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0" y="0"/>
          <a:ext cx="8096250" cy="948043"/>
        </p:xfrm>
        <a:graphic>
          <a:graphicData uri="http://schemas.openxmlformats.org/drawingml/2006/table">
            <a:tbl>
              <a:tblPr/>
              <a:tblGrid>
                <a:gridCol w="1349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9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9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49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493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493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864155">
                <a:tc>
                  <a:txBody>
                    <a:bodyPr/>
                    <a:lstStyle/>
                    <a:p>
                      <a:pPr algn="ctr">
                        <a:lnSpc>
                          <a:spcPts val="28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55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21" name="Group 21"/>
          <p:cNvGrpSpPr/>
          <p:nvPr/>
        </p:nvGrpSpPr>
        <p:grpSpPr>
          <a:xfrm>
            <a:off x="10827762" y="6136640"/>
            <a:ext cx="5458620" cy="1141912"/>
            <a:chOff x="0" y="0"/>
            <a:chExt cx="7278160" cy="1522550"/>
          </a:xfrm>
        </p:grpSpPr>
        <p:sp>
          <p:nvSpPr>
            <p:cNvPr id="23" name="TextBox 23"/>
            <p:cNvSpPr txBox="1"/>
            <p:nvPr/>
          </p:nvSpPr>
          <p:spPr>
            <a:xfrm>
              <a:off x="505248" y="149448"/>
              <a:ext cx="848900" cy="5361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429"/>
                </a:lnSpc>
                <a:spcBef>
                  <a:spcPct val="0"/>
                </a:spcBef>
              </a:pPr>
              <a:r>
                <a:rPr lang="en-US" sz="2449" spc="-61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38056" y="149448"/>
              <a:ext cx="848900" cy="5361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429"/>
                </a:lnSpc>
                <a:spcBef>
                  <a:spcPct val="0"/>
                </a:spcBef>
              </a:pPr>
              <a:r>
                <a:rPr lang="en-US" sz="2449" spc="-61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967599" y="132673"/>
              <a:ext cx="848900" cy="5361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429"/>
                </a:lnSpc>
                <a:spcBef>
                  <a:spcPct val="0"/>
                </a:spcBef>
              </a:pPr>
              <a:r>
                <a:rPr lang="en-US" sz="2449" spc="-61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164105" y="149448"/>
              <a:ext cx="461327" cy="5361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429"/>
                </a:lnSpc>
                <a:spcBef>
                  <a:spcPct val="0"/>
                </a:spcBef>
              </a:pPr>
              <a:r>
                <a:rPr lang="en-US" sz="2449" spc="-61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5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274949" y="149448"/>
              <a:ext cx="848900" cy="5361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429"/>
                </a:lnSpc>
                <a:spcBef>
                  <a:spcPct val="0"/>
                </a:spcBef>
              </a:pPr>
              <a:r>
                <a:rPr lang="en-US" sz="2449" spc="-61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7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9225" y="149448"/>
              <a:ext cx="312303" cy="5361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429"/>
                </a:lnSpc>
                <a:spcBef>
                  <a:spcPct val="0"/>
                </a:spcBef>
              </a:pPr>
              <a:r>
                <a:rPr lang="en-US" sz="2449" spc="-61">
                  <a:solidFill>
                    <a:srgbClr val="0552A1"/>
                  </a:solidFill>
                  <a:latin typeface="Francois One"/>
                  <a:ea typeface="Francois One"/>
                  <a:cs typeface="Francois One"/>
                  <a:sym typeface="Francois One"/>
                </a:rPr>
                <a:t>8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30894" y="1053904"/>
              <a:ext cx="661787" cy="4686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09"/>
                </a:lnSpc>
                <a:spcBef>
                  <a:spcPct val="0"/>
                </a:spcBef>
              </a:pPr>
              <a:endParaRPr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500718" y="1053904"/>
              <a:ext cx="661787" cy="4686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09"/>
                </a:lnSpc>
                <a:spcBef>
                  <a:spcPct val="0"/>
                </a:spcBef>
              </a:pPr>
              <a:endParaRPr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730261" y="1053904"/>
              <a:ext cx="661787" cy="4686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09"/>
                </a:lnSpc>
                <a:spcBef>
                  <a:spcPct val="0"/>
                </a:spcBef>
              </a:pPr>
              <a:endParaRPr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963645" y="1053904"/>
              <a:ext cx="661787" cy="4686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09"/>
                </a:lnSpc>
                <a:spcBef>
                  <a:spcPct val="0"/>
                </a:spcBef>
              </a:pPr>
              <a:endParaRPr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190953" y="1053904"/>
              <a:ext cx="1087207" cy="4686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09"/>
                </a:lnSpc>
                <a:spcBef>
                  <a:spcPct val="0"/>
                </a:spcBef>
              </a:pPr>
              <a:endParaRPr/>
            </a:p>
          </p:txBody>
        </p:sp>
      </p:grpSp>
      <p:graphicFrame>
        <p:nvGraphicFramePr>
          <p:cNvPr id="22" name="Table 22"/>
          <p:cNvGraphicFramePr>
            <a:graphicFrameLocks noGrp="1"/>
          </p:cNvGraphicFramePr>
          <p:nvPr/>
        </p:nvGraphicFramePr>
        <p:xfrm>
          <a:off x="0" y="0"/>
          <a:ext cx="8096250" cy="948043"/>
        </p:xfrm>
        <a:graphic>
          <a:graphicData uri="http://schemas.openxmlformats.org/drawingml/2006/table">
            <a:tbl>
              <a:tblPr/>
              <a:tblGrid>
                <a:gridCol w="1349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9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9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49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493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493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864155">
                <a:tc>
                  <a:txBody>
                    <a:bodyPr/>
                    <a:lstStyle/>
                    <a:p>
                      <a:pPr algn="ctr">
                        <a:lnSpc>
                          <a:spcPts val="28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55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4" name="TextBox 34"/>
          <p:cNvSpPr txBox="1"/>
          <p:nvPr/>
        </p:nvSpPr>
        <p:spPr>
          <a:xfrm>
            <a:off x="5242104" y="7009312"/>
            <a:ext cx="1430238" cy="5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79"/>
              </a:lnSpc>
              <a:spcBef>
                <a:spcPct val="0"/>
              </a:spcBef>
            </a:pPr>
            <a:r>
              <a:rPr lang="en-US" sz="3199" spc="-7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Ban đầu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2499239" y="7009312"/>
            <a:ext cx="2115666" cy="5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 spc="-8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Sau sắp xếp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079695" y="8004992"/>
            <a:ext cx="10761464" cy="1569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80"/>
              </a:lnSpc>
              <a:spcBef>
                <a:spcPct val="0"/>
              </a:spcBef>
            </a:pPr>
            <a:r>
              <a:rPr lang="en-US" sz="4200" b="1" spc="-105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Thuật toán:</a:t>
            </a:r>
            <a:r>
              <a:rPr lang="en-US" sz="4200" spc="-105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sắp xếp đơn giản bằng hai vòng lặp</a:t>
            </a:r>
          </a:p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sz="4200" b="1" spc="-105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Độ phức tạp:</a:t>
            </a:r>
            <a:r>
              <a:rPr lang="en-US" sz="4200" b="1" spc="-105">
                <a:solidFill>
                  <a:srgbClr val="0000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  <a:r>
              <a:rPr lang="en-US" sz="4200" spc="-105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O(n²).</a:t>
            </a:r>
          </a:p>
        </p:txBody>
      </p:sp>
    </p:spTree>
  </p:cSld>
  <p:clrMapOvr>
    <a:masterClrMapping/>
  </p:clrMapOvr>
  <p:transition spd="slow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93717" y="266699"/>
            <a:ext cx="8113701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71545" lvl="1" indent="-485773" algn="l">
              <a:lnSpc>
                <a:spcPts val="6299"/>
              </a:lnSpc>
              <a:spcBef>
                <a:spcPct val="0"/>
              </a:spcBef>
              <a:buAutoNum type="arabicPeriod"/>
            </a:pPr>
            <a:r>
              <a:rPr lang="en-US" sz="4499" spc="-89">
                <a:solidFill>
                  <a:srgbClr val="0552A1"/>
                </a:solidFill>
                <a:latin typeface="Francois One"/>
                <a:ea typeface="Francois One"/>
                <a:cs typeface="Francois One"/>
                <a:sym typeface="Francois One"/>
              </a:rPr>
              <a:t> TÌM KIẾM THEO MÃ PHÒNG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35337" y="1009650"/>
            <a:ext cx="9900836" cy="26276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59"/>
              </a:lnSpc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Hàm thực hiện: </a:t>
            </a:r>
            <a:r>
              <a:rPr lang="en-US" sz="3999" b="1" spc="-9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void timTheoMa( );</a:t>
            </a:r>
          </a:p>
          <a:p>
            <a:pPr algn="l">
              <a:lnSpc>
                <a:spcPts val="4959"/>
              </a:lnSpc>
            </a:pPr>
            <a:r>
              <a:rPr lang="en-US" sz="3999" b="1" spc="-9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Cách hoạt động:</a:t>
            </a:r>
          </a:p>
          <a:p>
            <a:pPr marL="863598" lvl="1" indent="-431799" algn="l">
              <a:lnSpc>
                <a:spcPts val="4959"/>
              </a:lnSpc>
              <a:buFont typeface="Arial"/>
              <a:buChar char="•"/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Người dùng nhập mã cần tìm.</a:t>
            </a:r>
          </a:p>
          <a:p>
            <a:pPr marL="863598" lvl="1" indent="-431799" algn="l">
              <a:lnSpc>
                <a:spcPts val="4959"/>
              </a:lnSpc>
              <a:spcBef>
                <a:spcPct val="0"/>
              </a:spcBef>
              <a:buFont typeface="Arial"/>
              <a:buChar char="•"/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 sánh từng phòng nếu giống → xuất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5337" y="9132570"/>
            <a:ext cx="9104486" cy="746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lang="en-US" sz="4000" spc="-1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Đây là tìm kiếm tuần tự, </a:t>
            </a:r>
            <a:r>
              <a:rPr lang="en-US" sz="4000" b="1" spc="-100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độ phức tạp</a:t>
            </a:r>
            <a:r>
              <a:rPr lang="en-US" sz="4000" spc="-100">
                <a:solidFill>
                  <a:srgbClr val="0552A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4000" spc="-1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O(n).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773921" y="4924576"/>
            <a:ext cx="2236589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Nhập: P03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646303" y="4204411"/>
            <a:ext cx="2256194" cy="6464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19"/>
              </a:lnSpc>
              <a:spcBef>
                <a:spcPct val="0"/>
              </a:spcBef>
            </a:pPr>
            <a:r>
              <a:rPr lang="en-US" sz="3799" spc="-9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P01 ≠ P03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648568" y="6012891"/>
            <a:ext cx="2253929" cy="6464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20"/>
              </a:lnSpc>
              <a:spcBef>
                <a:spcPct val="0"/>
              </a:spcBef>
            </a:pPr>
            <a:r>
              <a:rPr lang="en-US" sz="3800" spc="-95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P02 ≠ P03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688955" y="7821371"/>
            <a:ext cx="2213542" cy="6464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20"/>
              </a:lnSpc>
              <a:spcBef>
                <a:spcPct val="0"/>
              </a:spcBef>
            </a:pPr>
            <a:r>
              <a:rPr lang="en-US" sz="3800" spc="-95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P03 = P03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4488748" y="7821371"/>
            <a:ext cx="2328982" cy="6464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20"/>
              </a:lnSpc>
              <a:spcBef>
                <a:spcPct val="0"/>
              </a:spcBef>
            </a:pPr>
            <a:r>
              <a:rPr lang="en-US" sz="3800" spc="-95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Tìm thấy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102033" y="7821371"/>
            <a:ext cx="386715" cy="712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79"/>
              </a:lnSpc>
              <a:spcBef>
                <a:spcPct val="0"/>
              </a:spcBef>
            </a:pPr>
            <a:r>
              <a:rPr lang="en-US" sz="4199" spc="-10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→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5552770" y="4100346"/>
            <a:ext cx="5023992" cy="5117949"/>
            <a:chOff x="0" y="0"/>
            <a:chExt cx="6698656" cy="6823932"/>
          </a:xfrm>
        </p:grpSpPr>
        <p:sp>
          <p:nvSpPr>
            <p:cNvPr id="13" name="TextBox 13"/>
            <p:cNvSpPr txBox="1"/>
            <p:nvPr/>
          </p:nvSpPr>
          <p:spPr>
            <a:xfrm rot="-5400000">
              <a:off x="698665" y="1549189"/>
              <a:ext cx="515620" cy="6227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  <a:spcBef>
                  <a:spcPct val="0"/>
                </a:spcBef>
              </a:pPr>
              <a:r>
                <a:rPr lang="en-US" sz="2799" spc="-69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 rot="-5400000">
              <a:off x="3004426" y="3939571"/>
              <a:ext cx="515620" cy="6227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  <a:spcBef>
                  <a:spcPct val="0"/>
                </a:spcBef>
              </a:pPr>
              <a:r>
                <a:rPr lang="en-US" sz="2799" spc="-69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→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 rot="-5400000">
              <a:off x="5286009" y="6254761"/>
              <a:ext cx="515620" cy="6227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  <a:spcBef>
                  <a:spcPct val="0"/>
                </a:spcBef>
              </a:pPr>
              <a:r>
                <a:rPr lang="en-US" sz="2799" spc="-69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→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0" y="0"/>
          <a:ext cx="5023992" cy="1133475"/>
        </p:xfrm>
        <a:graphic>
          <a:graphicData uri="http://schemas.openxmlformats.org/drawingml/2006/table">
            <a:tbl>
              <a:tblPr/>
              <a:tblGrid>
                <a:gridCol w="16746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4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6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33475"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P01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P02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P03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6" name="Table 16"/>
          <p:cNvGraphicFramePr>
            <a:graphicFrameLocks noGrp="1"/>
          </p:cNvGraphicFramePr>
          <p:nvPr/>
        </p:nvGraphicFramePr>
        <p:xfrm>
          <a:off x="0" y="1746603"/>
          <a:ext cx="5023992" cy="1133475"/>
        </p:xfrm>
        <a:graphic>
          <a:graphicData uri="http://schemas.openxmlformats.org/drawingml/2006/table">
            <a:tbl>
              <a:tblPr/>
              <a:tblGrid>
                <a:gridCol w="16746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4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6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33475"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P01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P02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P03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7" name="Table 17"/>
          <p:cNvGraphicFramePr>
            <a:graphicFrameLocks noGrp="1"/>
          </p:cNvGraphicFramePr>
          <p:nvPr/>
        </p:nvGraphicFramePr>
        <p:xfrm>
          <a:off x="0" y="3496321"/>
          <a:ext cx="5023992" cy="1133475"/>
        </p:xfrm>
        <a:graphic>
          <a:graphicData uri="http://schemas.openxmlformats.org/drawingml/2006/table">
            <a:tbl>
              <a:tblPr/>
              <a:tblGrid>
                <a:gridCol w="16746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4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6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33475"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P01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P02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P03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" name="TextBox 18"/>
          <p:cNvSpPr txBox="1"/>
          <p:nvPr/>
        </p:nvSpPr>
        <p:spPr>
          <a:xfrm>
            <a:off x="835337" y="3693946"/>
            <a:ext cx="3175174" cy="736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 spc="-9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Ví dụ:</a:t>
            </a: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Tìm P03</a:t>
            </a:r>
          </a:p>
        </p:txBody>
      </p:sp>
    </p:spTree>
  </p:cSld>
  <p:clrMapOvr>
    <a:masterClrMapping/>
  </p:clrMapOvr>
  <p:transition spd="slow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2832" y="604837"/>
            <a:ext cx="8113701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71545" lvl="1" indent="-485773" algn="l">
              <a:lnSpc>
                <a:spcPts val="6299"/>
              </a:lnSpc>
              <a:spcBef>
                <a:spcPct val="0"/>
              </a:spcBef>
              <a:buAutoNum type="arabicPeriod"/>
            </a:pPr>
            <a:r>
              <a:rPr lang="en-US" sz="4499" spc="-89">
                <a:solidFill>
                  <a:srgbClr val="0552A1"/>
                </a:solidFill>
                <a:latin typeface="Francois One"/>
                <a:ea typeface="Francois One"/>
                <a:cs typeface="Francois One"/>
                <a:sym typeface="Francois One"/>
              </a:rPr>
              <a:t>TÌM KIẾM THEO TRẠNG THÁI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1471613"/>
            <a:ext cx="9976713" cy="769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spc="-10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Hàm thực hiện: </a:t>
            </a:r>
            <a:r>
              <a:rPr lang="en-US" sz="4199" b="1" spc="-104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void timTheoTrangThai( );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2346008"/>
            <a:ext cx="13994578" cy="769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sz="4200" spc="-105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Người dùng chọn:</a:t>
            </a:r>
            <a:r>
              <a:rPr lang="en-US" sz="4200" b="1" spc="-105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            0 → Còn trống              1 → Đã thuê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3249930"/>
            <a:ext cx="15600155" cy="1455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sz="4200" spc="-105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Sau đó chương trình duyệt toàn bộ danh sách và tìm những phòng có trạng thái phù hợp.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499888" y="4872990"/>
            <a:ext cx="1490067" cy="765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79"/>
              </a:lnSpc>
              <a:spcBef>
                <a:spcPct val="0"/>
              </a:spcBef>
            </a:pPr>
            <a:r>
              <a:rPr lang="en-US" sz="4199" b="1" spc="-104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VÍ DỤ: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954165" y="5787390"/>
            <a:ext cx="3267313" cy="2941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spc="-10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P01 → Trống</a:t>
            </a:r>
          </a:p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spc="-10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P02 → Đã thuê</a:t>
            </a:r>
          </a:p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spc="-10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P03 → Trống</a:t>
            </a:r>
          </a:p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spc="-10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P04 → Đã thuê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160397" y="5562600"/>
            <a:ext cx="1336760" cy="1512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79"/>
              </a:lnSpc>
              <a:spcBef>
                <a:spcPct val="0"/>
              </a:spcBef>
            </a:pPr>
            <a:r>
              <a:rPr lang="en-US" sz="4199" b="1" spc="-104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Chọn</a:t>
            </a:r>
            <a:r>
              <a:rPr lang="en-US" sz="4199" spc="-10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0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390392" y="5562600"/>
            <a:ext cx="1879402" cy="2255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79"/>
              </a:lnSpc>
              <a:spcBef>
                <a:spcPct val="0"/>
              </a:spcBef>
            </a:pPr>
            <a:r>
              <a:rPr lang="en-US" sz="4199" b="1" spc="-104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Kết quả</a:t>
            </a:r>
          </a:p>
          <a:p>
            <a:pPr algn="ctr">
              <a:lnSpc>
                <a:spcPts val="5879"/>
              </a:lnSpc>
              <a:spcBef>
                <a:spcPct val="0"/>
              </a:spcBef>
            </a:pPr>
            <a:r>
              <a:rPr lang="en-US" sz="4199" spc="-10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P01</a:t>
            </a:r>
          </a:p>
          <a:p>
            <a:pPr algn="ctr">
              <a:lnSpc>
                <a:spcPts val="5879"/>
              </a:lnSpc>
              <a:spcBef>
                <a:spcPct val="0"/>
              </a:spcBef>
            </a:pPr>
            <a:r>
              <a:rPr lang="en-US" sz="4199" spc="-10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P03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686533" y="8652511"/>
            <a:ext cx="4403230" cy="769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79"/>
              </a:lnSpc>
              <a:spcBef>
                <a:spcPct val="0"/>
              </a:spcBef>
            </a:pPr>
            <a:r>
              <a:rPr lang="en-US" sz="4199" b="1" spc="-104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Độ phức tạp:</a:t>
            </a:r>
            <a:r>
              <a:rPr lang="en-US" sz="4199" spc="-10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O(n)</a:t>
            </a:r>
          </a:p>
        </p:txBody>
      </p:sp>
    </p:spTree>
  </p:cSld>
  <p:clrMapOvr>
    <a:masterClrMapping/>
  </p:clrMapOvr>
  <p:transition spd="slow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2832" y="604837"/>
            <a:ext cx="8113701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71545" lvl="1" indent="-485773" algn="l">
              <a:lnSpc>
                <a:spcPts val="6299"/>
              </a:lnSpc>
              <a:spcBef>
                <a:spcPct val="0"/>
              </a:spcBef>
              <a:buAutoNum type="arabicPeriod"/>
            </a:pPr>
            <a:r>
              <a:rPr lang="en-US" sz="4499" spc="-89">
                <a:solidFill>
                  <a:srgbClr val="0552A1"/>
                </a:solidFill>
                <a:latin typeface="Francois One"/>
                <a:ea typeface="Francois One"/>
                <a:cs typeface="Francois One"/>
                <a:sym typeface="Francois One"/>
              </a:rPr>
              <a:t> THÊM PHÒNG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1479983"/>
            <a:ext cx="9976713" cy="765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spc="-10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Hàm thực hiện: </a:t>
            </a:r>
            <a:r>
              <a:rPr lang="en-US" sz="4199" b="1" spc="-104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void themPhong(int viTri);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9743" y="2360093"/>
            <a:ext cx="6491540" cy="7743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79"/>
              </a:lnSpc>
              <a:spcBef>
                <a:spcPct val="0"/>
              </a:spcBef>
            </a:pPr>
            <a:r>
              <a:rPr lang="en-US" sz="4199" b="1" spc="-104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Ví dụ: </a:t>
            </a:r>
            <a:r>
              <a:rPr lang="en-US" sz="4199" spc="-10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Thêm P05 vào vị trí 2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2851860" y="4086225"/>
          <a:ext cx="5834673" cy="1057275"/>
        </p:xfrm>
        <a:graphic>
          <a:graphicData uri="http://schemas.openxmlformats.org/drawingml/2006/table">
            <a:tbl>
              <a:tblPr/>
              <a:tblGrid>
                <a:gridCol w="1458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86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86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86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57275"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9909646" y="4150372"/>
            <a:ext cx="3675831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danh sách phòng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09646" y="5983163"/>
            <a:ext cx="7603629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dịch các phần tử phía sau sang phải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09646" y="7768330"/>
            <a:ext cx="5520035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nhập phòng mới và tăng 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193510" y="4237037"/>
            <a:ext cx="855315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P01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582225" y="4237037"/>
            <a:ext cx="855315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P02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047140" y="4237037"/>
            <a:ext cx="855315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P03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12056" y="4246562"/>
            <a:ext cx="855315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P04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371333" y="5832351"/>
            <a:ext cx="7315200" cy="1057275"/>
            <a:chOff x="0" y="0"/>
            <a:chExt cx="9753600" cy="1409700"/>
          </a:xfrm>
        </p:grpSpPr>
        <p:sp>
          <p:nvSpPr>
            <p:cNvPr id="15" name="TextBox 15"/>
            <p:cNvSpPr txBox="1"/>
            <p:nvPr/>
          </p:nvSpPr>
          <p:spPr>
            <a:xfrm>
              <a:off x="423994" y="226483"/>
              <a:ext cx="1140420" cy="8805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99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P01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350853" y="226483"/>
              <a:ext cx="1140420" cy="8805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99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P02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277713" y="226483"/>
              <a:ext cx="1140420" cy="8805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99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17272" y="226483"/>
              <a:ext cx="1140420" cy="8805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99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157792" y="226483"/>
              <a:ext cx="1140420" cy="8805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99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P05</a:t>
              </a:r>
            </a:p>
          </p:txBody>
        </p:sp>
      </p:grp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0" y="0"/>
          <a:ext cx="7315200" cy="1057275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57275"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20" name="Group 20"/>
          <p:cNvGrpSpPr/>
          <p:nvPr/>
        </p:nvGrpSpPr>
        <p:grpSpPr>
          <a:xfrm>
            <a:off x="1371333" y="7575426"/>
            <a:ext cx="7315200" cy="1057275"/>
            <a:chOff x="0" y="0"/>
            <a:chExt cx="9753600" cy="1409700"/>
          </a:xfrm>
        </p:grpSpPr>
        <p:sp>
          <p:nvSpPr>
            <p:cNvPr id="22" name="TextBox 22"/>
            <p:cNvSpPr txBox="1"/>
            <p:nvPr/>
          </p:nvSpPr>
          <p:spPr>
            <a:xfrm>
              <a:off x="423994" y="226483"/>
              <a:ext cx="1140420" cy="8805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99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P01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350853" y="226483"/>
              <a:ext cx="1140420" cy="8805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99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P02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277713" y="226483"/>
              <a:ext cx="1140420" cy="8805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99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P03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7272" y="226483"/>
              <a:ext cx="1140420" cy="8805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99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P04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157792" y="226483"/>
              <a:ext cx="1140420" cy="8805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599"/>
                </a:lnSpc>
                <a:spcBef>
                  <a:spcPct val="0"/>
                </a:spcBef>
              </a:pPr>
              <a:r>
                <a:rPr lang="en-US" sz="3999" spc="-99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P05</a:t>
              </a:r>
            </a:p>
          </p:txBody>
        </p:sp>
      </p:grpSp>
      <p:graphicFrame>
        <p:nvGraphicFramePr>
          <p:cNvPr id="21" name="Table 21"/>
          <p:cNvGraphicFramePr>
            <a:graphicFrameLocks noGrp="1"/>
          </p:cNvGraphicFramePr>
          <p:nvPr/>
        </p:nvGraphicFramePr>
        <p:xfrm>
          <a:off x="0" y="0"/>
          <a:ext cx="7315200" cy="1057275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57275"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97160" y="604837"/>
            <a:ext cx="8113701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71545" lvl="1" indent="-485773" algn="l">
              <a:lnSpc>
                <a:spcPts val="6299"/>
              </a:lnSpc>
              <a:spcBef>
                <a:spcPct val="0"/>
              </a:spcBef>
              <a:buAutoNum type="arabicPeriod"/>
            </a:pPr>
            <a:r>
              <a:rPr lang="en-US" sz="4499" spc="-89">
                <a:solidFill>
                  <a:srgbClr val="0552A1"/>
                </a:solidFill>
                <a:latin typeface="Francois One"/>
                <a:ea typeface="Francois One"/>
                <a:cs typeface="Francois One"/>
                <a:sym typeface="Francois One"/>
              </a:rPr>
              <a:t> XÓA PHÒNG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67676" y="1455743"/>
            <a:ext cx="9976713" cy="1579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4199" spc="-10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Hàm thực hiện: </a:t>
            </a:r>
            <a:r>
              <a:rPr lang="en-US" sz="4199" b="1" spc="-104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void xoaPhong(int viTri);</a:t>
            </a:r>
          </a:p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 spc="-104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Ví dụ:  </a:t>
            </a:r>
            <a:r>
              <a:rPr lang="en-US" sz="4199" spc="-10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Xóa P02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80160" y="4011655"/>
          <a:ext cx="5834673" cy="1057275"/>
        </p:xfrm>
        <a:graphic>
          <a:graphicData uri="http://schemas.openxmlformats.org/drawingml/2006/table">
            <a:tbl>
              <a:tblPr/>
              <a:tblGrid>
                <a:gridCol w="1458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86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86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86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57275"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2621810" y="4162468"/>
            <a:ext cx="855315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010525" y="4162468"/>
            <a:ext cx="855315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P02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475440" y="4162468"/>
            <a:ext cx="855315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P03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940355" y="4171993"/>
            <a:ext cx="855315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P04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2280160" y="5847102"/>
          <a:ext cx="5834673" cy="1057275"/>
        </p:xfrm>
        <a:graphic>
          <a:graphicData uri="http://schemas.openxmlformats.org/drawingml/2006/table">
            <a:tbl>
              <a:tblPr/>
              <a:tblGrid>
                <a:gridCol w="1458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86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86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86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57275"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" name="TextBox 10"/>
          <p:cNvSpPr txBox="1"/>
          <p:nvPr/>
        </p:nvSpPr>
        <p:spPr>
          <a:xfrm>
            <a:off x="2621810" y="5997914"/>
            <a:ext cx="855315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P01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010525" y="5997914"/>
            <a:ext cx="855315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P03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475440" y="5997914"/>
            <a:ext cx="855315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P04</a:t>
            </a:r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2280160" y="7685427"/>
          <a:ext cx="4359125" cy="1057275"/>
        </p:xfrm>
        <a:graphic>
          <a:graphicData uri="http://schemas.openxmlformats.org/drawingml/2006/table">
            <a:tbl>
              <a:tblPr/>
              <a:tblGrid>
                <a:gridCol w="1453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30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30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57275"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5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TextBox 14"/>
          <p:cNvSpPr txBox="1"/>
          <p:nvPr/>
        </p:nvSpPr>
        <p:spPr>
          <a:xfrm>
            <a:off x="2621810" y="7836239"/>
            <a:ext cx="855315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P01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010525" y="7836239"/>
            <a:ext cx="855315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P03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475440" y="7836239"/>
            <a:ext cx="855315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P04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526060" y="4162468"/>
            <a:ext cx="3675831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danh sách phòng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526060" y="5986172"/>
            <a:ext cx="7342510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dịch các phần tử phía sau sang trái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526060" y="7836239"/>
            <a:ext cx="1424732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giảm n</a:t>
            </a:r>
          </a:p>
        </p:txBody>
      </p:sp>
    </p:spTree>
  </p:cSld>
  <p:clrMapOvr>
    <a:masterClrMapping/>
  </p:clrMapOvr>
  <p:transition spd="slow">
    <p:pu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8728" y="690745"/>
            <a:ext cx="6108323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71545" lvl="1" indent="-485773" algn="l">
              <a:lnSpc>
                <a:spcPts val="6299"/>
              </a:lnSpc>
              <a:spcBef>
                <a:spcPct val="0"/>
              </a:spcBef>
              <a:buAutoNum type="arabicPeriod"/>
            </a:pPr>
            <a:r>
              <a:rPr lang="en-US" sz="4499" spc="-89">
                <a:solidFill>
                  <a:srgbClr val="0552A1"/>
                </a:solidFill>
                <a:latin typeface="Francois One"/>
                <a:ea typeface="Francois One"/>
                <a:cs typeface="Francois One"/>
                <a:sym typeface="Francois One"/>
              </a:rPr>
              <a:t> MENU CHƯƠNG TRÌNH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242448" y="1794685"/>
            <a:ext cx="9585796" cy="7137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1" spc="-9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Menu</a:t>
            </a: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giúp người dùng </a:t>
            </a:r>
            <a:r>
              <a:rPr lang="en-US" sz="3999" b="1" spc="-9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lựa chọn</a:t>
            </a: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chức năng: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Nhập danh sách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Xuất danh sách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Sắp xếp theo giá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4. Tìm theo mã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5. Tìm theo trạng thái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6. Thêm phòng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7. Xóa phòng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0. Thoát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Để</a:t>
            </a:r>
            <a:r>
              <a:rPr lang="en-US" sz="3999" b="1" spc="-9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xác định</a:t>
            </a: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3999" b="1" spc="-9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chức năng</a:t>
            </a: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cần thực hiện.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28700" y="1870885"/>
            <a:ext cx="5808909" cy="7538561"/>
            <a:chOff x="0" y="0"/>
            <a:chExt cx="7745212" cy="10051415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7745212" cy="10051415"/>
              <a:chOff x="0" y="0"/>
              <a:chExt cx="1529919" cy="1985465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1529919" cy="1985465"/>
              </a:xfrm>
              <a:custGeom>
                <a:avLst/>
                <a:gdLst/>
                <a:ahLst/>
                <a:cxnLst/>
                <a:rect l="l" t="t" r="r" b="b"/>
                <a:pathLst>
                  <a:path w="1529919" h="1985465">
                    <a:moveTo>
                      <a:pt x="0" y="0"/>
                    </a:moveTo>
                    <a:lnTo>
                      <a:pt x="1529919" y="0"/>
                    </a:lnTo>
                    <a:lnTo>
                      <a:pt x="1529919" y="1985465"/>
                    </a:lnTo>
                    <a:lnTo>
                      <a:pt x="0" y="1985465"/>
                    </a:lnTo>
                    <a:close/>
                  </a:path>
                </a:pathLst>
              </a:custGeom>
              <a:ln w="19050" cap="sq">
                <a:solidFill>
                  <a:srgbClr val="0552A1"/>
                </a:solidFill>
                <a:prstDash val="solid"/>
                <a:miter/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0" y="-19050"/>
                <a:ext cx="1529919" cy="200451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469"/>
                  </a:lnSpc>
                </a:pPr>
                <a:endParaRPr/>
              </a:p>
            </p:txBody>
          </p:sp>
        </p:grpSp>
        <p:sp>
          <p:nvSpPr>
            <p:cNvPr id="8" name="TextBox 8"/>
            <p:cNvSpPr txBox="1"/>
            <p:nvPr/>
          </p:nvSpPr>
          <p:spPr>
            <a:xfrm>
              <a:off x="986041" y="337517"/>
              <a:ext cx="5849938" cy="8655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40"/>
                </a:lnSpc>
                <a:spcBef>
                  <a:spcPct val="0"/>
                </a:spcBef>
              </a:pPr>
              <a:r>
                <a:rPr lang="en-US" sz="3600" b="1" spc="-89">
                  <a:solidFill>
                    <a:srgbClr val="0552A1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LUỒNG HOẠT ĐỘNG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579097" y="1749757"/>
              <a:ext cx="2663825" cy="7956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39"/>
                </a:lnSpc>
                <a:spcBef>
                  <a:spcPct val="0"/>
                </a:spcBef>
              </a:pPr>
              <a:r>
                <a:rPr lang="en-US" sz="3599" spc="-89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Khởi động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151812" y="3151837"/>
              <a:ext cx="3518396" cy="7956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39"/>
                </a:lnSpc>
                <a:spcBef>
                  <a:spcPct val="0"/>
                </a:spcBef>
              </a:pPr>
              <a:r>
                <a:rPr lang="en-US" sz="3599" spc="-89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Hiển thị Menu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70303" y="4553917"/>
              <a:ext cx="4481413" cy="7956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39"/>
                </a:lnSpc>
                <a:spcBef>
                  <a:spcPct val="0"/>
                </a:spcBef>
              </a:pPr>
              <a:r>
                <a:rPr lang="en-US" sz="3599" spc="-89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Người dùng chọn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554809" y="2359357"/>
              <a:ext cx="490538" cy="8591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39"/>
                </a:lnSpc>
                <a:spcBef>
                  <a:spcPct val="0"/>
                </a:spcBef>
              </a:pPr>
              <a:r>
                <a:rPr lang="en-US" sz="3599" b="1" spc="-89">
                  <a:solidFill>
                    <a:srgbClr val="00000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 ↓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50639" y="5955998"/>
              <a:ext cx="5443934" cy="7956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39"/>
                </a:lnSpc>
                <a:spcBef>
                  <a:spcPct val="0"/>
                </a:spcBef>
              </a:pPr>
              <a:r>
                <a:rPr lang="en-US" sz="3599" spc="-89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Thực hiện chức năng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042715" y="7328717"/>
              <a:ext cx="3659783" cy="7956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39"/>
                </a:lnSpc>
                <a:spcBef>
                  <a:spcPct val="0"/>
                </a:spcBef>
              </a:pPr>
              <a:r>
                <a:rPr lang="en-US" sz="3599" spc="-89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Quay lại Menu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043310" y="8730797"/>
              <a:ext cx="4004072" cy="7956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39"/>
                </a:lnSpc>
                <a:spcBef>
                  <a:spcPct val="0"/>
                </a:spcBef>
              </a:pPr>
              <a:r>
                <a:rPr lang="en-US" sz="3599" spc="-89">
                  <a:solidFill>
                    <a:srgbClr val="00000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Chọn 0 → Thoát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554809" y="3761437"/>
              <a:ext cx="490538" cy="8591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39"/>
                </a:lnSpc>
                <a:spcBef>
                  <a:spcPct val="0"/>
                </a:spcBef>
              </a:pPr>
              <a:r>
                <a:rPr lang="en-US" sz="3599" b="1" spc="-89">
                  <a:solidFill>
                    <a:srgbClr val="00000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 ↓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554809" y="5163517"/>
              <a:ext cx="490538" cy="8591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39"/>
                </a:lnSpc>
                <a:spcBef>
                  <a:spcPct val="0"/>
                </a:spcBef>
              </a:pPr>
              <a:r>
                <a:rPr lang="en-US" sz="3599" b="1" spc="-89">
                  <a:solidFill>
                    <a:srgbClr val="00000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 ↓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554809" y="6565598"/>
              <a:ext cx="490538" cy="8591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39"/>
                </a:lnSpc>
                <a:spcBef>
                  <a:spcPct val="0"/>
                </a:spcBef>
              </a:pPr>
              <a:r>
                <a:rPr lang="en-US" sz="3599" b="1" spc="-89">
                  <a:solidFill>
                    <a:srgbClr val="00000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 ↓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554809" y="7967678"/>
              <a:ext cx="490538" cy="8591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39"/>
                </a:lnSpc>
                <a:spcBef>
                  <a:spcPct val="0"/>
                </a:spcBef>
              </a:pPr>
              <a:r>
                <a:rPr lang="en-US" sz="3599" b="1" spc="-89">
                  <a:solidFill>
                    <a:srgbClr val="00000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 ↓</a:t>
              </a:r>
            </a:p>
          </p:txBody>
        </p:sp>
      </p:grpSp>
    </p:spTree>
  </p:cSld>
  <p:clrMapOvr>
    <a:masterClrMapping/>
  </p:clrMapOvr>
  <p:transition spd="slow">
    <p:pu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23528" y="1655877"/>
            <a:ext cx="15240945" cy="6975246"/>
            <a:chOff x="0" y="0"/>
            <a:chExt cx="4014076" cy="183710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014076" cy="1837102"/>
            </a:xfrm>
            <a:custGeom>
              <a:avLst/>
              <a:gdLst/>
              <a:ahLst/>
              <a:cxnLst/>
              <a:rect l="l" t="t" r="r" b="b"/>
              <a:pathLst>
                <a:path w="4014076" h="1837102">
                  <a:moveTo>
                    <a:pt x="0" y="0"/>
                  </a:moveTo>
                  <a:lnTo>
                    <a:pt x="4014076" y="0"/>
                  </a:lnTo>
                  <a:lnTo>
                    <a:pt x="4014076" y="1837102"/>
                  </a:lnTo>
                  <a:lnTo>
                    <a:pt x="0" y="1837102"/>
                  </a:lnTo>
                  <a:close/>
                </a:path>
              </a:pathLst>
            </a:custGeom>
            <a:solidFill>
              <a:srgbClr val="F3FBFF"/>
            </a:solidFill>
            <a:ln w="19050" cap="sq">
              <a:solidFill>
                <a:srgbClr val="0552A1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4014076" cy="18561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267564" y="3289495"/>
            <a:ext cx="13347242" cy="50184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8" lvl="1" indent="-431799" algn="l">
              <a:lnSpc>
                <a:spcPts val="5599"/>
              </a:lnSpc>
              <a:buFont typeface="Arial"/>
              <a:buChar char="•"/>
            </a:pPr>
            <a:r>
              <a:rPr lang="en-US" sz="3999" b="1" spc="-9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Xây dựng</a:t>
            </a: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được </a:t>
            </a:r>
            <a:r>
              <a:rPr lang="en-US" sz="3999" b="1" spc="-9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chương trình quản lý</a:t>
            </a: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phòng khách sạn bằng C++.</a:t>
            </a:r>
          </a:p>
          <a:p>
            <a:pPr marL="863598" lvl="1" indent="-431799" algn="l">
              <a:lnSpc>
                <a:spcPts val="5599"/>
              </a:lnSpc>
              <a:buFont typeface="Arial"/>
              <a:buChar char="•"/>
            </a:pPr>
            <a:r>
              <a:rPr lang="en-US" sz="3999" b="1" spc="-9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Quản lý thông tin phòng</a:t>
            </a: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mã, loại, tầng, sức chứa, giá thuê, trạng thái.</a:t>
            </a:r>
          </a:p>
          <a:p>
            <a:pPr marL="863598" lvl="1" indent="-431799" algn="l">
              <a:lnSpc>
                <a:spcPts val="5599"/>
              </a:lnSpc>
              <a:spcBef>
                <a:spcPct val="0"/>
              </a:spcBef>
              <a:buFont typeface="Arial"/>
              <a:buChar char="•"/>
            </a:pPr>
            <a:r>
              <a:rPr lang="en-US" sz="3999" b="1" spc="-9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Thực hiện </a:t>
            </a: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được </a:t>
            </a:r>
            <a:r>
              <a:rPr lang="en-US" sz="3999" b="1" spc="-9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các chức năng</a:t>
            </a: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nhập, xuất, thêm, xóa, tìm kiếm và sắp xếp.</a:t>
            </a:r>
          </a:p>
          <a:p>
            <a:pPr algn="l">
              <a:lnSpc>
                <a:spcPts val="5040"/>
              </a:lnSpc>
              <a:spcBef>
                <a:spcPct val="0"/>
              </a:spcBef>
            </a:pPr>
            <a:endParaRPr lang="en-US" sz="3999" spc="-99">
              <a:solidFill>
                <a:srgbClr val="00000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2814407" y="2141137"/>
            <a:ext cx="2570694" cy="8445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99"/>
              </a:lnSpc>
              <a:spcBef>
                <a:spcPct val="0"/>
              </a:spcBef>
            </a:pPr>
            <a:r>
              <a:rPr lang="en-US" sz="4999" spc="-99">
                <a:solidFill>
                  <a:srgbClr val="0552A1"/>
                </a:solidFill>
                <a:latin typeface="Francois One"/>
                <a:ea typeface="Francois One"/>
                <a:cs typeface="Francois One"/>
                <a:sym typeface="Francois One"/>
              </a:rPr>
              <a:t>KẾT QUẢ</a:t>
            </a:r>
          </a:p>
        </p:txBody>
      </p:sp>
    </p:spTree>
  </p:cSld>
  <p:clrMapOvr>
    <a:masterClrMapping/>
  </p:clrMapOvr>
  <p:transition spd="slow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182226" y="1519166"/>
            <a:ext cx="13923548" cy="7248668"/>
            <a:chOff x="0" y="0"/>
            <a:chExt cx="3667107" cy="190911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667108" cy="1909114"/>
            </a:xfrm>
            <a:custGeom>
              <a:avLst/>
              <a:gdLst/>
              <a:ahLst/>
              <a:cxnLst/>
              <a:rect l="l" t="t" r="r" b="b"/>
              <a:pathLst>
                <a:path w="3667108" h="1909114">
                  <a:moveTo>
                    <a:pt x="0" y="0"/>
                  </a:moveTo>
                  <a:lnTo>
                    <a:pt x="3667108" y="0"/>
                  </a:lnTo>
                  <a:lnTo>
                    <a:pt x="3667108" y="1909114"/>
                  </a:lnTo>
                  <a:lnTo>
                    <a:pt x="0" y="1909114"/>
                  </a:lnTo>
                  <a:close/>
                </a:path>
              </a:pathLst>
            </a:custGeom>
            <a:solidFill>
              <a:srgbClr val="F3FBFF"/>
            </a:solidFill>
            <a:ln w="19050" cap="sq">
              <a:solidFill>
                <a:srgbClr val="0552A1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3667107" cy="19281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3627480" y="3075311"/>
            <a:ext cx="10687593" cy="5185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3600" b="1" spc="-8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Ưu điểm:</a:t>
            </a:r>
          </a:p>
          <a:p>
            <a:pPr marL="777240" lvl="1" indent="-388620" algn="l">
              <a:lnSpc>
                <a:spcPts val="5040"/>
              </a:lnSpc>
              <a:buFont typeface="Arial"/>
              <a:buChar char="•"/>
            </a:pPr>
            <a:r>
              <a:rPr lang="en-US" sz="3600" spc="-8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Đầy đủ các chức năng chính của bài toán.</a:t>
            </a:r>
          </a:p>
          <a:p>
            <a:pPr marL="777240" lvl="1" indent="-388620" algn="l">
              <a:lnSpc>
                <a:spcPts val="5040"/>
              </a:lnSpc>
              <a:buFont typeface="Arial"/>
              <a:buChar char="•"/>
            </a:pPr>
            <a:r>
              <a:rPr lang="en-US" sz="3600" spc="-8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Dữ liệu được quản lý theo đối tượng và danh sách.</a:t>
            </a:r>
          </a:p>
          <a:p>
            <a:pPr marL="777240" lvl="1" indent="-388620" algn="l">
              <a:lnSpc>
                <a:spcPts val="5040"/>
              </a:lnSpc>
              <a:buFont typeface="Arial"/>
              <a:buChar char="•"/>
            </a:pPr>
            <a:r>
              <a:rPr lang="en-US" sz="3600" spc="-8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Có kiểm tra dữ liệu và mã phòng trùng.</a:t>
            </a:r>
          </a:p>
          <a:p>
            <a:pPr algn="l">
              <a:lnSpc>
                <a:spcPts val="5040"/>
              </a:lnSpc>
            </a:pPr>
            <a:r>
              <a:rPr lang="en-US" sz="3600" b="1" spc="-89">
                <a:solidFill>
                  <a:srgbClr val="0552A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Hạn chế:</a:t>
            </a:r>
          </a:p>
          <a:p>
            <a:pPr marL="777240" lvl="1" indent="-388620" algn="l">
              <a:lnSpc>
                <a:spcPts val="5040"/>
              </a:lnSpc>
              <a:buFont typeface="Arial"/>
              <a:buChar char="•"/>
            </a:pPr>
            <a:r>
              <a:rPr lang="en-US" sz="3600" spc="-8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Số lượng phòng bị giới hạn.</a:t>
            </a:r>
          </a:p>
          <a:p>
            <a:pPr marL="777240" lvl="1" indent="-388620" algn="l">
              <a:lnSpc>
                <a:spcPts val="5040"/>
              </a:lnSpc>
              <a:spcBef>
                <a:spcPct val="0"/>
              </a:spcBef>
              <a:buFont typeface="Arial"/>
              <a:buChar char="•"/>
            </a:pPr>
            <a:r>
              <a:rPr lang="en-US" sz="3600" spc="-8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Giao diện chương trình còn đơn giản.</a:t>
            </a:r>
          </a:p>
          <a:p>
            <a:pPr algn="l">
              <a:lnSpc>
                <a:spcPts val="5040"/>
              </a:lnSpc>
              <a:spcBef>
                <a:spcPct val="0"/>
              </a:spcBef>
            </a:pPr>
            <a:endParaRPr lang="en-US" sz="3600" spc="-89">
              <a:solidFill>
                <a:srgbClr val="00000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3627480" y="2066567"/>
            <a:ext cx="2719833" cy="8445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99"/>
              </a:lnSpc>
              <a:spcBef>
                <a:spcPct val="0"/>
              </a:spcBef>
            </a:pPr>
            <a:r>
              <a:rPr lang="en-US" sz="4999" spc="-99">
                <a:solidFill>
                  <a:srgbClr val="0552A1"/>
                </a:solidFill>
                <a:latin typeface="Francois One"/>
                <a:ea typeface="Francois One"/>
                <a:cs typeface="Francois One"/>
                <a:sym typeface="Francois One"/>
              </a:rPr>
              <a:t>ĐÁNH GIÁ </a:t>
            </a:r>
          </a:p>
        </p:txBody>
      </p:sp>
    </p:spTree>
  </p:cSld>
  <p:clrMapOvr>
    <a:masterClrMapping/>
  </p:clrMapOvr>
  <p:transition spd="slow"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909055"/>
            <a:ext cx="16230600" cy="8468889"/>
            <a:chOff x="0" y="0"/>
            <a:chExt cx="4274726" cy="22304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274726" cy="2230489"/>
            </a:xfrm>
            <a:custGeom>
              <a:avLst/>
              <a:gdLst/>
              <a:ahLst/>
              <a:cxnLst/>
              <a:rect l="l" t="t" r="r" b="b"/>
              <a:pathLst>
                <a:path w="4274726" h="2230489">
                  <a:moveTo>
                    <a:pt x="0" y="0"/>
                  </a:moveTo>
                  <a:lnTo>
                    <a:pt x="4274726" y="0"/>
                  </a:lnTo>
                  <a:lnTo>
                    <a:pt x="4274726" y="2230489"/>
                  </a:lnTo>
                  <a:lnTo>
                    <a:pt x="0" y="2230489"/>
                  </a:lnTo>
                  <a:close/>
                </a:path>
              </a:pathLst>
            </a:custGeom>
            <a:solidFill>
              <a:srgbClr val="F3FBFF"/>
            </a:solidFill>
            <a:ln w="19050" cap="sq">
              <a:solidFill>
                <a:srgbClr val="0552A1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4274726" cy="22495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523528" y="2334895"/>
            <a:ext cx="13347242" cy="27324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8" lvl="1" indent="-431799" algn="l">
              <a:lnSpc>
                <a:spcPts val="5599"/>
              </a:lnSpc>
              <a:buFont typeface="Arial"/>
              <a:buChar char="•"/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Mở rộng số lượng phòng có thể quản lý.</a:t>
            </a:r>
          </a:p>
          <a:p>
            <a:pPr marL="863598" lvl="1" indent="-431799" algn="l">
              <a:lnSpc>
                <a:spcPts val="5599"/>
              </a:lnSpc>
              <a:buFont typeface="Arial"/>
              <a:buChar char="•"/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Bổ sung chức năng đặt phòng, trả phòng và tính tiền.</a:t>
            </a:r>
          </a:p>
          <a:p>
            <a:pPr marL="863598" lvl="1" indent="-431799" algn="l">
              <a:lnSpc>
                <a:spcPts val="5599"/>
              </a:lnSpc>
              <a:spcBef>
                <a:spcPct val="0"/>
              </a:spcBef>
              <a:buFont typeface="Arial"/>
              <a:buChar char="•"/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Cải thiện giao diện để chương trình dễ sử dụng hơn.</a:t>
            </a:r>
          </a:p>
          <a:p>
            <a:pPr algn="l">
              <a:lnSpc>
                <a:spcPts val="5040"/>
              </a:lnSpc>
              <a:spcBef>
                <a:spcPct val="0"/>
              </a:spcBef>
            </a:pPr>
            <a:endParaRPr lang="en-US" sz="3999" spc="-99">
              <a:solidFill>
                <a:srgbClr val="00000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867572" y="1340101"/>
            <a:ext cx="5230343" cy="8445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99"/>
              </a:lnSpc>
              <a:spcBef>
                <a:spcPct val="0"/>
              </a:spcBef>
            </a:pPr>
            <a:r>
              <a:rPr lang="en-US" sz="4999" spc="-99">
                <a:solidFill>
                  <a:srgbClr val="0552A1"/>
                </a:solidFill>
                <a:latin typeface="Francois One"/>
                <a:ea typeface="Francois One"/>
                <a:cs typeface="Francois One"/>
                <a:sym typeface="Francois One"/>
              </a:rPr>
              <a:t>HƯỚNG PHÁT TRIỀN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67572" y="4847411"/>
            <a:ext cx="5230343" cy="8445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99"/>
              </a:lnSpc>
              <a:spcBef>
                <a:spcPct val="0"/>
              </a:spcBef>
            </a:pPr>
            <a:r>
              <a:rPr lang="en-US" sz="4999" spc="-99">
                <a:solidFill>
                  <a:srgbClr val="0552A1"/>
                </a:solidFill>
                <a:latin typeface="Francois One"/>
                <a:ea typeface="Francois One"/>
                <a:cs typeface="Francois One"/>
                <a:sym typeface="Francois One"/>
              </a:rPr>
              <a:t>KẾT LUẬN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523528" y="5940689"/>
            <a:ext cx="15240945" cy="3437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8" lvl="1" indent="-431799" algn="l">
              <a:lnSpc>
                <a:spcPts val="5599"/>
              </a:lnSpc>
              <a:buFont typeface="Arial"/>
              <a:buChar char="•"/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Đề tài đã xây dựng được chương trình quản lý phòng khách sạn với các chức năng cơ bản.</a:t>
            </a:r>
          </a:p>
          <a:p>
            <a:pPr marL="863598" lvl="1" indent="-431799" algn="l">
              <a:lnSpc>
                <a:spcPts val="5599"/>
              </a:lnSpc>
              <a:spcBef>
                <a:spcPct val="0"/>
              </a:spcBef>
              <a:buFont typeface="Arial"/>
              <a:buChar char="•"/>
            </a:pPr>
            <a:r>
              <a:rPr lang="en-US" sz="3999" spc="-99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Qua đề tài, nhóm vận dụng kiến thức lập trình hướng đối tượng và rèn luyện kỹ năng lập trình, phân tích và làm việc nhóm.</a:t>
            </a:r>
          </a:p>
          <a:p>
            <a:pPr algn="l">
              <a:lnSpc>
                <a:spcPts val="5040"/>
              </a:lnSpc>
              <a:spcBef>
                <a:spcPct val="0"/>
              </a:spcBef>
            </a:pPr>
            <a:endParaRPr lang="en-US" sz="3999" spc="-99">
              <a:solidFill>
                <a:srgbClr val="00000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</p:spTree>
  </p:cSld>
  <p:clrMapOvr>
    <a:masterClrMapping/>
  </p:clrMapOvr>
  <p:transition spd="slow">
    <p:push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88074" y="4161155"/>
            <a:ext cx="7111852" cy="17741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560"/>
              </a:lnSpc>
              <a:spcBef>
                <a:spcPct val="0"/>
              </a:spcBef>
            </a:pPr>
            <a:r>
              <a:rPr lang="en-US" sz="10400" spc="-208">
                <a:solidFill>
                  <a:srgbClr val="0552A1"/>
                </a:solidFill>
                <a:latin typeface="Francois One"/>
                <a:ea typeface="Francois One"/>
                <a:cs typeface="Francois One"/>
                <a:sym typeface="Francois One"/>
              </a:rPr>
              <a:t>CẢM ƠN!</a:t>
            </a:r>
          </a:p>
        </p:txBody>
      </p:sp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1526</Words>
  <Application>Microsoft Office PowerPoint</Application>
  <PresentationFormat>Custom</PresentationFormat>
  <Paragraphs>290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3" baseType="lpstr">
      <vt:lpstr>Francois One</vt:lpstr>
      <vt:lpstr>Noto Sans</vt:lpstr>
      <vt:lpstr>Helvetica World Bold</vt:lpstr>
      <vt:lpstr>Noto Sans Bold</vt:lpstr>
      <vt:lpstr>Anton</vt:lpstr>
      <vt:lpstr>Calibri</vt:lpstr>
      <vt:lpstr>Helvetica World</vt:lpstr>
      <vt:lpstr>Arial</vt:lpstr>
      <vt:lpstr>Helvetica World Bold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A2 - Lập trình HĐT</dc:title>
  <dc:creator>Ngoc Anh</dc:creator>
  <cp:lastModifiedBy>Ngoc Anh</cp:lastModifiedBy>
  <cp:revision>1</cp:revision>
  <dcterms:created xsi:type="dcterms:W3CDTF">2006-08-16T00:00:00Z</dcterms:created>
  <dcterms:modified xsi:type="dcterms:W3CDTF">2026-10-09T15:34:13Z</dcterms:modified>
  <dc:identifier>DAHXWMWYhco</dc:identifier>
</cp:coreProperties>
</file>