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nton" charset="1" panose="00000500000000000000"/>
      <p:regular r:id="rId29"/>
    </p:embeddedFont>
    <p:embeddedFont>
      <p:font typeface="Helvetica World Bold" charset="1" panose="020B0800040000020004"/>
      <p:regular r:id="rId30"/>
    </p:embeddedFont>
    <p:embeddedFont>
      <p:font typeface="Helvetica World" charset="1" panose="020B0500040000020004"/>
      <p:regular r:id="rId31"/>
    </p:embeddedFont>
    <p:embeddedFont>
      <p:font typeface="Francois One" charset="1" panose="02000503040000020004"/>
      <p:regular r:id="rId32"/>
    </p:embeddedFont>
    <p:embeddedFont>
      <p:font typeface="Helvetica World Bold Italics" charset="1" panose="020B0800040000090004"/>
      <p:regular r:id="rId33"/>
    </p:embeddedFont>
    <p:embeddedFont>
      <p:font typeface="Noto Sans Bold" charset="1" panose="020B0802040504020204"/>
      <p:regular r:id="rId34"/>
    </p:embeddedFont>
    <p:embeddedFont>
      <p:font typeface="Noto Sans" charset="1" panose="020B0502040504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93002"/>
            <a:ext cx="9802118" cy="2300996"/>
            <a:chOff x="0" y="0"/>
            <a:chExt cx="13069490" cy="3067994"/>
          </a:xfrm>
        </p:grpSpPr>
        <p:sp>
          <p:nvSpPr>
            <p:cNvPr name="AutoShape 3" id="3"/>
            <p:cNvSpPr/>
            <p:nvPr/>
          </p:nvSpPr>
          <p:spPr>
            <a:xfrm>
              <a:off x="63500" y="3048944"/>
              <a:ext cx="9654697" cy="0"/>
            </a:xfrm>
            <a:prstGeom prst="line">
              <a:avLst/>
            </a:prstGeom>
            <a:ln cap="flat" w="38100">
              <a:solidFill>
                <a:srgbClr val="0552A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14300"/>
              <a:ext cx="13069490" cy="2614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56"/>
                </a:lnSpc>
                <a:spcBef>
                  <a:spcPct val="0"/>
                </a:spcBef>
              </a:pPr>
              <a:r>
                <a:rPr lang="en-US" sz="5683">
                  <a:solidFill>
                    <a:srgbClr val="0552A1"/>
                  </a:solidFill>
                  <a:latin typeface="Anton"/>
                  <a:ea typeface="Anton"/>
                  <a:cs typeface="Anton"/>
                  <a:sym typeface="Anton"/>
                </a:rPr>
                <a:t>Chủ đề 8: Quản lý danh sách Phòng khách sạn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36516" y="2970667"/>
            <a:ext cx="5994023" cy="4345667"/>
          </a:xfrm>
          <a:custGeom>
            <a:avLst/>
            <a:gdLst/>
            <a:ahLst/>
            <a:cxnLst/>
            <a:rect r="r" b="b" t="t" l="l"/>
            <a:pathLst>
              <a:path h="4345667" w="5994023">
                <a:moveTo>
                  <a:pt x="0" y="0"/>
                </a:moveTo>
                <a:lnTo>
                  <a:pt x="5994024" y="0"/>
                </a:lnTo>
                <a:lnTo>
                  <a:pt x="5994024" y="4345666"/>
                </a:lnTo>
                <a:lnTo>
                  <a:pt x="0" y="4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144304" y="2366207"/>
          <a:ext cx="11999392" cy="6892093"/>
        </p:xfrm>
        <a:graphic>
          <a:graphicData uri="http://schemas.openxmlformats.org/drawingml/2006/table">
            <a:tbl>
              <a:tblPr/>
              <a:tblGrid>
                <a:gridCol w="1459300"/>
                <a:gridCol w="5846579"/>
                <a:gridCol w="4693512"/>
              </a:tblGrid>
              <a:tr h="11780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Họ và Tên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Mã 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F"/>
                    </a:solidFill>
                  </a:tcPr>
                </a:tc>
              </a:tr>
              <a:tr h="1147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Nguyễn Kim Hoàng Hà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257140210035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7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Nguyễn Thị Ngọc Anh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257140210009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ào Thị Phương Loan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257140210131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7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Nguyễn Hiền Phương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257140310093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7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Lý Bảo Trâm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257140210117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819166" y="607583"/>
            <a:ext cx="864966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spc="-13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DANH SÁCH </a:t>
            </a:r>
            <a:r>
              <a:rPr lang="en-US" sz="6999" spc="-13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THÀNH VIÊN 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817" y="1785923"/>
            <a:ext cx="15514367" cy="6715154"/>
            <a:chOff x="0" y="0"/>
            <a:chExt cx="4086088" cy="176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86088" cy="1768600"/>
            </a:xfrm>
            <a:custGeom>
              <a:avLst/>
              <a:gdLst/>
              <a:ahLst/>
              <a:cxnLst/>
              <a:rect r="r" b="b" t="t" l="l"/>
              <a:pathLst>
                <a:path h="1768600" w="4086088">
                  <a:moveTo>
                    <a:pt x="0" y="0"/>
                  </a:moveTo>
                  <a:lnTo>
                    <a:pt x="4086088" y="0"/>
                  </a:lnTo>
                  <a:lnTo>
                    <a:pt x="4086088" y="1768600"/>
                  </a:lnTo>
                  <a:lnTo>
                    <a:pt x="0" y="1768600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086088" cy="1787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0687" y="3336350"/>
            <a:ext cx="15037486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gành du lịch và lưu trú phát triển, đòi hỏi quản lý thông tin phòng chính xác và hiệu quả.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Quản lý thủ công dễ xảy ra sai sót, nhầm lẫn dữ liệu.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hóm chọn đề tài “Xây dựng chương trình Quản lý phòng khách sạn bằng C++” để vận dụng kiến thức lập trình hướng đối tượng (OOP) và rèn luyện kỹ năng phân tích, thiết kế, làm việc nhóm và sử dụng GitHub.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68137" y="2104667"/>
            <a:ext cx="5155773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LÝ DO CHỌN ĐỀ TÀI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817" y="1407312"/>
            <a:ext cx="15514367" cy="7472377"/>
            <a:chOff x="0" y="0"/>
            <a:chExt cx="4086088" cy="1968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86088" cy="1968033"/>
            </a:xfrm>
            <a:custGeom>
              <a:avLst/>
              <a:gdLst/>
              <a:ahLst/>
              <a:cxnLst/>
              <a:rect r="r" b="b" t="t" l="l"/>
              <a:pathLst>
                <a:path h="1968033" w="4086088">
                  <a:moveTo>
                    <a:pt x="0" y="0"/>
                  </a:moveTo>
                  <a:lnTo>
                    <a:pt x="4086088" y="0"/>
                  </a:lnTo>
                  <a:lnTo>
                    <a:pt x="4086088" y="1968033"/>
                  </a:lnTo>
                  <a:lnTo>
                    <a:pt x="0" y="1968033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086088" cy="198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85648" y="3018003"/>
            <a:ext cx="15037486" cy="582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 spc="-8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Kiến thức và kỹ năng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Vận dụng các nguyên lý OOP: đóng gói, trừu tượng.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Sử dụng mảng đối tượng, thuật toán tìm kiếm và sắp xếp.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Rèn luyện kỹ năng kiểm tra dữ liệu đầu vào và xử lý dữ liệu trùng lặp.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 spc="-8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Mục tiêu sản phẩm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Xây dựng chương trình hoàn chỉnh, ổn định.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Thiết kế Menu rõ ràng, dễ thao tác.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Đảm bảo dữ liệu chính xác khi thêm, xóa, tìm kiếm và sắp xếp.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67564" y="1842858"/>
            <a:ext cx="2645263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MỤC TIÊU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817" y="1407312"/>
            <a:ext cx="15514367" cy="7472377"/>
            <a:chOff x="0" y="0"/>
            <a:chExt cx="4086088" cy="1968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86088" cy="1968033"/>
            </a:xfrm>
            <a:custGeom>
              <a:avLst/>
              <a:gdLst/>
              <a:ahLst/>
              <a:cxnLst/>
              <a:rect r="r" b="b" t="t" l="l"/>
              <a:pathLst>
                <a:path h="1968033" w="4086088">
                  <a:moveTo>
                    <a:pt x="0" y="0"/>
                  </a:moveTo>
                  <a:lnTo>
                    <a:pt x="4086088" y="0"/>
                  </a:lnTo>
                  <a:lnTo>
                    <a:pt x="4086088" y="1968033"/>
                  </a:lnTo>
                  <a:lnTo>
                    <a:pt x="0" y="1968033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086088" cy="198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21814" y="2901315"/>
            <a:ext cx="14192364" cy="529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Lập trình hướng đối tượng (OOP)</a:t>
            </a:r>
          </a:p>
          <a:p>
            <a:pPr algn="l">
              <a:lnSpc>
                <a:spcPts val="5040"/>
              </a:lnSpc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Sử dụng lớp, đối tượng và tính đóng gói để xây dựng chương trình.</a:t>
            </a:r>
          </a:p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Mảng đối tượng</a:t>
            </a:r>
          </a:p>
          <a:p>
            <a:pPr algn="l">
              <a:lnSpc>
                <a:spcPts val="5040"/>
              </a:lnSpc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Dùng để lưu trữ và quản lý nhiều phòng trong cùng một danh sách.</a:t>
            </a:r>
          </a:p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Tìm kiếm và sắp xếp</a:t>
            </a:r>
          </a:p>
          <a:p>
            <a:pPr algn="l">
              <a:lnSpc>
                <a:spcPts val="5040"/>
              </a:lnSpc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Áp dụng tìm kiếm tuyến tính và sắp xếp theo giá thuê tăng dần.</a:t>
            </a:r>
          </a:p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Kiểm tra dữ liệu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Đảm bảo dữ liệu nhập vào hợp lệ và không bị trùng mã phòng.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67564" y="1842858"/>
            <a:ext cx="4708356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CƠ SỞ LÝ THUYẾT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046" y="1567834"/>
            <a:ext cx="14943909" cy="7151333"/>
            <a:chOff x="0" y="0"/>
            <a:chExt cx="3935844" cy="1883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5844" cy="1883479"/>
            </a:xfrm>
            <a:custGeom>
              <a:avLst/>
              <a:gdLst/>
              <a:ahLst/>
              <a:cxnLst/>
              <a:rect r="r" b="b" t="t" l="l"/>
              <a:pathLst>
                <a:path h="1883479" w="3935844">
                  <a:moveTo>
                    <a:pt x="0" y="0"/>
                  </a:moveTo>
                  <a:lnTo>
                    <a:pt x="3935844" y="0"/>
                  </a:lnTo>
                  <a:lnTo>
                    <a:pt x="3935844" y="1883479"/>
                  </a:lnTo>
                  <a:lnTo>
                    <a:pt x="0" y="1883479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35844" cy="1902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2630" y="2975467"/>
            <a:ext cx="13002740" cy="516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Xây dựng lớp quản lý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đối tượng Phòng khách sạn với các thuộc tính: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mã phòng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loại phòng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tầng, sức chứa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giá thuê mỗi đêm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trạng thái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(còn trống/đã thuê) và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các phương thức cần thiết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Sau đó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thực hiện quản lý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danh sách n (0 &lt; n &lt; 200) phòng với các thao tác: 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Nhập danh sách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phòng từ bàn phím, in danh sách ra màn hình; 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Sắp xếp danh sách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theo thứ tự giá thuê tăng dần; 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Tìm kiếm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phòng theo mã phòng hoặc trạng thái; 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Bổ sung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hoặc </a:t>
            </a:r>
            <a:r>
              <a:rPr lang="en-US" b="true" sz="3400" spc="-68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xóa </a:t>
            </a:r>
            <a:r>
              <a:rPr lang="en-US" sz="3400" spc="-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 phòng ở một vị trí cho trước trong danh sách.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2630" y="1933932"/>
            <a:ext cx="2048707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Đ</a:t>
            </a: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Ề BÀI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68932"/>
            <a:ext cx="15868650" cy="5858625"/>
            <a:chOff x="0" y="0"/>
            <a:chExt cx="21158200" cy="78114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847470" cy="7811499"/>
              <a:chOff x="0" y="0"/>
              <a:chExt cx="1747648" cy="154301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47648" cy="1543012"/>
              </a:xfrm>
              <a:custGeom>
                <a:avLst/>
                <a:gdLst/>
                <a:ahLst/>
                <a:cxnLst/>
                <a:rect r="r" b="b" t="t" l="l"/>
                <a:pathLst>
                  <a:path h="1543012" w="1747648">
                    <a:moveTo>
                      <a:pt x="0" y="0"/>
                    </a:moveTo>
                    <a:lnTo>
                      <a:pt x="1747648" y="0"/>
                    </a:lnTo>
                    <a:lnTo>
                      <a:pt x="1747648" y="1543012"/>
                    </a:lnTo>
                    <a:lnTo>
                      <a:pt x="0" y="1543012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1747648" cy="15620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8847470" cy="1301099"/>
              <a:chOff x="0" y="0"/>
              <a:chExt cx="1747648" cy="25700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47648" cy="257007"/>
              </a:xfrm>
              <a:custGeom>
                <a:avLst/>
                <a:gdLst/>
                <a:ahLst/>
                <a:cxnLst/>
                <a:rect r="r" b="b" t="t" l="l"/>
                <a:pathLst>
                  <a:path h="257007" w="1747648">
                    <a:moveTo>
                      <a:pt x="0" y="0"/>
                    </a:moveTo>
                    <a:lnTo>
                      <a:pt x="1747648" y="0"/>
                    </a:lnTo>
                    <a:lnTo>
                      <a:pt x="1747648" y="257007"/>
                    </a:lnTo>
                    <a:lnTo>
                      <a:pt x="0" y="257007"/>
                    </a:lnTo>
                    <a:close/>
                  </a:path>
                </a:pathLst>
              </a:custGeom>
              <a:solidFill>
                <a:srgbClr val="0552A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747648" cy="276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29933" y="208378"/>
              <a:ext cx="3987603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pc="-73">
                  <a:solidFill>
                    <a:srgbClr val="FFFFF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CHƯƠNG TRÌNH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691731" y="2039187"/>
              <a:ext cx="1846964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Xuất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734046" y="5742176"/>
              <a:ext cx="3404899" cy="1561180"/>
              <a:chOff x="0" y="0"/>
              <a:chExt cx="729623" cy="3345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34046" y="1727262"/>
              <a:ext cx="3404899" cy="1561180"/>
              <a:chOff x="0" y="0"/>
              <a:chExt cx="729623" cy="3345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734046" y="3736496"/>
              <a:ext cx="3404899" cy="1561180"/>
              <a:chOff x="0" y="0"/>
              <a:chExt cx="729623" cy="3345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52713" y="2047118"/>
              <a:ext cx="1846964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Nhập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82124" y="4072668"/>
              <a:ext cx="2864342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Tìm kiếm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614613" y="6053925"/>
              <a:ext cx="1846964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Thêm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4709564" y="3710296"/>
              <a:ext cx="3404899" cy="1561180"/>
              <a:chOff x="0" y="0"/>
              <a:chExt cx="729623" cy="3345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322258" y="4046468"/>
              <a:ext cx="2509711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Sắp xếp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4709564" y="5715976"/>
              <a:ext cx="3404899" cy="1561180"/>
              <a:chOff x="0" y="0"/>
              <a:chExt cx="729623" cy="3345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900128" y="6027725"/>
              <a:ext cx="1846964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Xóa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4709564" y="1701062"/>
              <a:ext cx="3404899" cy="1561180"/>
              <a:chOff x="0" y="0"/>
              <a:chExt cx="729623" cy="33454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29623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729623">
                    <a:moveTo>
                      <a:pt x="0" y="0"/>
                    </a:moveTo>
                    <a:lnTo>
                      <a:pt x="729623" y="0"/>
                    </a:lnTo>
                    <a:lnTo>
                      <a:pt x="729623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729623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668347" y="12702"/>
              <a:ext cx="11489853" cy="1301099"/>
              <a:chOff x="0" y="0"/>
              <a:chExt cx="2269601" cy="25700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69601" cy="257007"/>
              </a:xfrm>
              <a:custGeom>
                <a:avLst/>
                <a:gdLst/>
                <a:ahLst/>
                <a:cxnLst/>
                <a:rect r="r" b="b" t="t" l="l"/>
                <a:pathLst>
                  <a:path h="257007" w="2269601">
                    <a:moveTo>
                      <a:pt x="0" y="0"/>
                    </a:moveTo>
                    <a:lnTo>
                      <a:pt x="2269601" y="0"/>
                    </a:lnTo>
                    <a:lnTo>
                      <a:pt x="2269601" y="257007"/>
                    </a:lnTo>
                    <a:lnTo>
                      <a:pt x="0" y="257007"/>
                    </a:lnTo>
                    <a:close/>
                  </a:path>
                </a:pathLst>
              </a:custGeom>
              <a:solidFill>
                <a:srgbClr val="0552A1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2269601" cy="276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668347" y="12702"/>
              <a:ext cx="11489853" cy="7798798"/>
              <a:chOff x="0" y="0"/>
              <a:chExt cx="2269601" cy="154050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269601" cy="1540503"/>
              </a:xfrm>
              <a:custGeom>
                <a:avLst/>
                <a:gdLst/>
                <a:ahLst/>
                <a:cxnLst/>
                <a:rect r="r" b="b" t="t" l="l"/>
                <a:pathLst>
                  <a:path h="1540503" w="2269601">
                    <a:moveTo>
                      <a:pt x="0" y="0"/>
                    </a:moveTo>
                    <a:lnTo>
                      <a:pt x="2269601" y="0"/>
                    </a:lnTo>
                    <a:lnTo>
                      <a:pt x="2269601" y="1540503"/>
                    </a:lnTo>
                    <a:lnTo>
                      <a:pt x="0" y="1540503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9050"/>
                <a:ext cx="2269601" cy="15595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4210435" y="221080"/>
              <a:ext cx="2405677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pc="-73">
                  <a:solidFill>
                    <a:srgbClr val="FFFFF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Ý</a:t>
              </a:r>
              <a:r>
                <a:rPr lang="en-US" sz="3699" spc="-73">
                  <a:solidFill>
                    <a:srgbClr val="FFFFF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 TƯỞNG 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0598030" y="2064957"/>
              <a:ext cx="4028857" cy="1561180"/>
              <a:chOff x="0" y="0"/>
              <a:chExt cx="863329" cy="33454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63329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863329">
                    <a:moveTo>
                      <a:pt x="0" y="0"/>
                    </a:moveTo>
                    <a:lnTo>
                      <a:pt x="863329" y="0"/>
                    </a:lnTo>
                    <a:lnTo>
                      <a:pt x="863329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63329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1063751" y="2376705"/>
              <a:ext cx="3249816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Một phòng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6420863" y="2376705"/>
              <a:ext cx="3500673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Nhiều phòng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16156771" y="2064957"/>
              <a:ext cx="4028857" cy="1561180"/>
              <a:chOff x="0" y="0"/>
              <a:chExt cx="863329" cy="33454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63329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863329">
                    <a:moveTo>
                      <a:pt x="0" y="0"/>
                    </a:moveTo>
                    <a:lnTo>
                      <a:pt x="863329" y="0"/>
                    </a:lnTo>
                    <a:lnTo>
                      <a:pt x="863329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63329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0598030" y="4995344"/>
              <a:ext cx="4028857" cy="1561180"/>
              <a:chOff x="0" y="0"/>
              <a:chExt cx="863329" cy="33454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63329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863329">
                    <a:moveTo>
                      <a:pt x="0" y="0"/>
                    </a:moveTo>
                    <a:lnTo>
                      <a:pt x="863329" y="0"/>
                    </a:lnTo>
                    <a:lnTo>
                      <a:pt x="863329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63329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6156771" y="4995344"/>
              <a:ext cx="4028857" cy="1561180"/>
              <a:chOff x="0" y="0"/>
              <a:chExt cx="863329" cy="33454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63329" cy="334540"/>
              </a:xfrm>
              <a:custGeom>
                <a:avLst/>
                <a:gdLst/>
                <a:ahLst/>
                <a:cxnLst/>
                <a:rect r="r" b="b" t="t" l="l"/>
                <a:pathLst>
                  <a:path h="334540" w="863329">
                    <a:moveTo>
                      <a:pt x="0" y="0"/>
                    </a:moveTo>
                    <a:lnTo>
                      <a:pt x="863329" y="0"/>
                    </a:lnTo>
                    <a:lnTo>
                      <a:pt x="863329" y="334540"/>
                    </a:lnTo>
                    <a:lnTo>
                      <a:pt x="0" y="33454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863329" cy="372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9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6868251" y="5307092"/>
              <a:ext cx="2605897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DS phòng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1782980" y="5307092"/>
              <a:ext cx="1658957" cy="871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Menu</a:t>
              </a:r>
            </a:p>
          </p:txBody>
        </p:sp>
        <p:sp>
          <p:nvSpPr>
            <p:cNvPr name="AutoShape 57" id="57"/>
            <p:cNvSpPr/>
            <p:nvPr/>
          </p:nvSpPr>
          <p:spPr>
            <a:xfrm>
              <a:off x="14889896" y="2870947"/>
              <a:ext cx="1003865" cy="0"/>
            </a:xfrm>
            <a:prstGeom prst="line">
              <a:avLst/>
            </a:prstGeom>
            <a:ln cap="flat" w="50800">
              <a:solidFill>
                <a:srgbClr val="0552A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8" id="58"/>
            <p:cNvSpPr/>
            <p:nvPr/>
          </p:nvSpPr>
          <p:spPr>
            <a:xfrm flipH="true">
              <a:off x="14889896" y="5775934"/>
              <a:ext cx="1003865" cy="0"/>
            </a:xfrm>
            <a:prstGeom prst="line">
              <a:avLst/>
            </a:prstGeom>
            <a:ln cap="flat" w="50800">
              <a:solidFill>
                <a:srgbClr val="0552A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18145800" y="3808808"/>
              <a:ext cx="0" cy="1003865"/>
            </a:xfrm>
            <a:prstGeom prst="line">
              <a:avLst/>
            </a:prstGeom>
            <a:ln cap="flat" w="50800">
              <a:solidFill>
                <a:srgbClr val="0552A1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478352" y="483971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TỔNG QUAN CHƯƠNG TRÌNH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38225" y="8007667"/>
            <a:ext cx="16675648" cy="151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83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Ý tưởng chính:</a:t>
            </a:r>
            <a:r>
              <a:rPr lang="en-US" b="true" sz="4199" i="true" spc="-83">
                <a:solidFill>
                  <a:srgbClr val="0552A1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</a:t>
            </a:r>
            <a:r>
              <a:rPr lang="en-US" sz="4199" spc="-8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Mỗi phòng là một đối tượng → nhiều phòng được lưu trong một danh sách → người dùng thao tác thông qua menu.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1296" y="3745669"/>
            <a:ext cx="7194983" cy="5512631"/>
            <a:chOff x="0" y="0"/>
            <a:chExt cx="1894975" cy="1451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4975" cy="1451886"/>
            </a:xfrm>
            <a:custGeom>
              <a:avLst/>
              <a:gdLst/>
              <a:ahLst/>
              <a:cxnLst/>
              <a:rect r="r" b="b" t="t" l="l"/>
              <a:pathLst>
                <a:path h="1451886" w="1894975">
                  <a:moveTo>
                    <a:pt x="0" y="0"/>
                  </a:moveTo>
                  <a:lnTo>
                    <a:pt x="1894975" y="0"/>
                  </a:lnTo>
                  <a:lnTo>
                    <a:pt x="1894975" y="1451886"/>
                  </a:lnTo>
                  <a:lnTo>
                    <a:pt x="0" y="1451886"/>
                  </a:lnTo>
                  <a:close/>
                </a:path>
              </a:pathLst>
            </a:custGeom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94975" cy="1470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35645" y="3745669"/>
            <a:ext cx="7194983" cy="5512631"/>
            <a:chOff x="0" y="0"/>
            <a:chExt cx="1894975" cy="1451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4975" cy="1451886"/>
            </a:xfrm>
            <a:custGeom>
              <a:avLst/>
              <a:gdLst/>
              <a:ahLst/>
              <a:cxnLst/>
              <a:rect r="r" b="b" t="t" l="l"/>
              <a:pathLst>
                <a:path h="1451886" w="1894975">
                  <a:moveTo>
                    <a:pt x="0" y="0"/>
                  </a:moveTo>
                  <a:lnTo>
                    <a:pt x="1894975" y="0"/>
                  </a:lnTo>
                  <a:lnTo>
                    <a:pt x="1894975" y="1451886"/>
                  </a:lnTo>
                  <a:lnTo>
                    <a:pt x="0" y="1451886"/>
                  </a:lnTo>
                  <a:close/>
                </a:path>
              </a:pathLst>
            </a:custGeom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4975" cy="1470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0770" y="934826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THIẾT KẾ LỚP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662" y="1775032"/>
            <a:ext cx="17096568" cy="157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Chương trình gồm </a:t>
            </a:r>
            <a:r>
              <a:rPr lang="en-US" sz="4199" spc="-104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 lớp 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chính:</a:t>
            </a:r>
            <a:r>
              <a:rPr lang="en-US" sz="4199" spc="-104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PhongKhachSan, QuanLyKhachSan</a:t>
            </a:r>
          </a:p>
          <a:p>
            <a:pPr algn="l" marL="906777" indent="-453388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PhongKhachSan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Dùng để lưu thông tin </a:t>
            </a: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một phòng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1207" y="4027805"/>
            <a:ext cx="6335161" cy="523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 PhongKhachSan{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string MaPhong;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string LoaiPhong;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 Tang;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 SucChua;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double GiaThue;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bool TrangThai;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806058" y="4027805"/>
            <a:ext cx="6254156" cy="39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Ngoài ra có: 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nhap(); → nhập thông tin phòng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xuat();  → xuất thông tin phòng</a:t>
            </a:r>
          </a:p>
          <a:p>
            <a:pPr algn="l">
              <a:lnSpc>
                <a:spcPts val="5179"/>
              </a:lnSpc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Getter / Setter: lấy và thay đổi dữ liệu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spc="-7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};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541" y="1028700"/>
            <a:ext cx="17646459" cy="2362301"/>
            <a:chOff x="0" y="0"/>
            <a:chExt cx="23528612" cy="314973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85725"/>
              <a:ext cx="10818268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5" indent="-485773" lvl="1">
                <a:lnSpc>
                  <a:spcPts val="6299"/>
                </a:lnSpc>
                <a:spcBef>
                  <a:spcPct val="0"/>
                </a:spcBef>
                <a:buAutoNum type="arabicPeriod" startAt="1"/>
              </a:pPr>
              <a:r>
                <a:rPr lang="en-US" sz="4499" spc="-8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 THIẾT KẾ LỚP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733188" y="1069474"/>
              <a:ext cx="22795424" cy="2080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Chương trình gồm </a:t>
              </a:r>
              <a:r>
                <a:rPr lang="en-US" sz="4199" spc="-104" b="true">
                  <a:solidFill>
                    <a:srgbClr val="0552A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 lớp 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chính:</a:t>
              </a:r>
              <a:r>
                <a:rPr lang="en-US" sz="4199" spc="-104" b="true">
                  <a:solidFill>
                    <a:srgbClr val="0552A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PhongKhachSan, QuanLyKhachSan</a:t>
              </a:r>
            </a:p>
            <a:p>
              <a:pPr algn="l" marL="906777" indent="-453388" lvl="1">
                <a:lnSpc>
                  <a:spcPts val="5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4199" spc="-104">
                  <a:solidFill>
                    <a:srgbClr val="0552A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QuanLyKhachSan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 Dùng để quản lý </a:t>
              </a:r>
              <a:r>
                <a:rPr lang="en-US" b="true" sz="4199" spc="-104">
                  <a:solidFill>
                    <a:srgbClr val="0552A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nhiều phòng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20104" y="4203721"/>
            <a:ext cx="7544666" cy="4379054"/>
            <a:chOff x="0" y="0"/>
            <a:chExt cx="10059555" cy="583873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059555" cy="5838739"/>
              <a:chOff x="0" y="0"/>
              <a:chExt cx="1987073" cy="11533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87073" cy="1153331"/>
              </a:xfrm>
              <a:custGeom>
                <a:avLst/>
                <a:gdLst/>
                <a:ahLst/>
                <a:cxnLst/>
                <a:rect r="r" b="b" t="t" l="l"/>
                <a:pathLst>
                  <a:path h="1153331" w="1987073">
                    <a:moveTo>
                      <a:pt x="0" y="0"/>
                    </a:moveTo>
                    <a:lnTo>
                      <a:pt x="1987073" y="0"/>
                    </a:lnTo>
                    <a:lnTo>
                      <a:pt x="1987073" y="1153331"/>
                    </a:lnTo>
                    <a:lnTo>
                      <a:pt x="0" y="1153331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987073" cy="1172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732775" y="489648"/>
              <a:ext cx="9020096" cy="5199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 spc="-7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class QuanLyKhachSan{</a:t>
              </a:r>
            </a:p>
            <a:p>
              <a:pPr algn="l">
                <a:lnSpc>
                  <a:spcPts val="5179"/>
                </a:lnSpc>
              </a:pPr>
              <a:r>
                <a:rPr lang="en-US" sz="3699" spc="-7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PhongKhachSan dsPhong[200];</a:t>
              </a:r>
            </a:p>
            <a:p>
              <a:pPr algn="l">
                <a:lnSpc>
                  <a:spcPts val="5179"/>
                </a:lnSpc>
              </a:pPr>
              <a:r>
                <a:rPr lang="en-US" sz="3699" spc="-7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 n;</a:t>
              </a:r>
            </a:p>
            <a:p>
              <a:pPr algn="l">
                <a:lnSpc>
                  <a:spcPts val="5179"/>
                </a:lnSpc>
              </a:pPr>
              <a:r>
                <a:rPr lang="en-US" sz="3699" spc="-7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   // dsPhong: danh sách phòng</a:t>
              </a:r>
            </a:p>
            <a:p>
              <a:pPr algn="l">
                <a:lnSpc>
                  <a:spcPts val="5179"/>
                </a:lnSpc>
              </a:pPr>
              <a:r>
                <a:rPr lang="en-US" sz="3699" spc="-7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  // n: số lượng phòng hiện tại</a:t>
              </a:r>
            </a:p>
            <a:p>
              <a:pPr algn="l">
                <a:lnSpc>
                  <a:spcPts val="51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79733"/>
            <a:ext cx="8114131" cy="1092929"/>
            <a:chOff x="0" y="0"/>
            <a:chExt cx="10818842" cy="14572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818842" cy="1457239"/>
              <a:chOff x="0" y="0"/>
              <a:chExt cx="2137055" cy="2878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37055" cy="287850"/>
              </a:xfrm>
              <a:custGeom>
                <a:avLst/>
                <a:gdLst/>
                <a:ahLst/>
                <a:cxnLst/>
                <a:rect r="r" b="b" t="t" l="l"/>
                <a:pathLst>
                  <a:path h="287850" w="2137055">
                    <a:moveTo>
                      <a:pt x="0" y="0"/>
                    </a:moveTo>
                    <a:lnTo>
                      <a:pt x="2137055" y="0"/>
                    </a:lnTo>
                    <a:lnTo>
                      <a:pt x="2137055" y="287850"/>
                    </a:lnTo>
                    <a:lnTo>
                      <a:pt x="0" y="28785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2137055" cy="30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788084" y="489648"/>
              <a:ext cx="9700926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67649" y="228239"/>
              <a:ext cx="9662421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PhongKhachSan dsPhong[200];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3. </a:t>
            </a: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THIẾT KẾ DANH SÁCH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557687"/>
            <a:ext cx="924344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Danh sách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ò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đượ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lư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bằng mản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8971" y="6642739"/>
            <a:ext cx="8533129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Tối đa </a:t>
            </a: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199 phòng</a:t>
            </a: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(0 &lt; n &lt; 200) 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phòng được lưu từ </a:t>
            </a: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dsPhong[0]</a:t>
            </a: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đến </a:t>
            </a: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dsPhong[n-1]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4275203"/>
            <a:ext cx="8153400" cy="1855470"/>
            <a:chOff x="0" y="0"/>
            <a:chExt cx="10871200" cy="24739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353310" y="207645"/>
              <a:ext cx="1263705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P01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94756" y="207645"/>
              <a:ext cx="1263705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P02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87001" y="207645"/>
              <a:ext cx="1263705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P03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706267" y="207645"/>
              <a:ext cx="1263705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P04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852493" y="207645"/>
              <a:ext cx="1263705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...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179440" y="207645"/>
              <a:ext cx="1691760" cy="934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P199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92581" y="1549400"/>
              <a:ext cx="985162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[0]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234027" y="1549400"/>
              <a:ext cx="985162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[1]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064372" y="1549400"/>
              <a:ext cx="985162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[2]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900435" y="1549400"/>
              <a:ext cx="985162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[3]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216091" y="1549400"/>
              <a:ext cx="1618458" cy="92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[n-1]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0" y="0"/>
          <a:ext cx="8096250" cy="1038225"/>
        </p:xfrm>
        <a:graphic>
          <a:graphicData uri="http://schemas.openxmlformats.org/drawingml/2006/table">
            <a:tbl>
              <a:tblPr/>
              <a:tblGrid>
                <a:gridCol w="1349375"/>
                <a:gridCol w="1349375"/>
                <a:gridCol w="1349375"/>
                <a:gridCol w="1349375"/>
                <a:gridCol w="1349375"/>
                <a:gridCol w="1349375"/>
              </a:tblGrid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3. </a:t>
            </a: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THIẾT KẾ DANH SÁCH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9444" y="1702118"/>
            <a:ext cx="10413763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Khi thêm / xóa phòng: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Thêm</a:t>
            </a: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các phần tử phía sau dịch </a:t>
            </a: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sang phải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Xóa</a:t>
            </a:r>
            <a:r>
              <a:rPr lang="en-US" sz="39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các phần tử phía sau dịch</a:t>
            </a:r>
            <a:r>
              <a:rPr lang="en-US" b="true" sz="3999" spc="-7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sang trái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09444" y="4431348"/>
            <a:ext cx="16957292" cy="4611636"/>
            <a:chOff x="0" y="0"/>
            <a:chExt cx="22609723" cy="61488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13534"/>
              <a:ext cx="10143324" cy="4687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-99">
                  <a:solidFill>
                    <a:srgbClr val="0552A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Trước:</a:t>
              </a: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P01   P02   P03   P04  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                                   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-99">
                  <a:solidFill>
                    <a:srgbClr val="0552A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Sau: </a:t>
              </a: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   P01   P02   P05   P03   P04</a:t>
              </a:r>
            </a:p>
            <a:p>
              <a:pPr algn="l">
                <a:lnSpc>
                  <a:spcPts val="5879"/>
                </a:lnSpc>
                <a:spcBef>
                  <a:spcPct val="0"/>
                </a:spcBef>
              </a:pPr>
            </a:p>
          </p:txBody>
        </p:sp>
        <p:sp>
          <p:nvSpPr>
            <p:cNvPr name="AutoShape 6" id="6"/>
            <p:cNvSpPr/>
            <p:nvPr/>
          </p:nvSpPr>
          <p:spPr>
            <a:xfrm>
              <a:off x="5930111" y="2553436"/>
              <a:ext cx="0" cy="11417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6467439" y="2566136"/>
              <a:ext cx="1749339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thêm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8853550" y="5772081"/>
              <a:ext cx="76913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4498808" y="5268314"/>
              <a:ext cx="4570642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dịch sang phải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466399" y="1313534"/>
              <a:ext cx="10143324" cy="4687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-99">
                  <a:solidFill>
                    <a:srgbClr val="0552A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Trước:</a:t>
              </a: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P01   P02   P03   P04  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                                   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-99">
                  <a:solidFill>
                    <a:srgbClr val="0552A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Sau: </a:t>
              </a:r>
              <a:r>
                <a:rPr lang="en-US" sz="3999" spc="-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   P01   P03   P04   </a:t>
              </a:r>
            </a:p>
            <a:p>
              <a:pPr algn="l">
                <a:lnSpc>
                  <a:spcPts val="5879"/>
                </a:lnSpc>
                <a:spcBef>
                  <a:spcPct val="0"/>
                </a:spcBef>
              </a:pP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16876307" y="2553436"/>
              <a:ext cx="0" cy="11417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17399588" y="2674974"/>
              <a:ext cx="1749339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xóa</a:t>
              </a:r>
            </a:p>
          </p:txBody>
        </p:sp>
        <p:sp>
          <p:nvSpPr>
            <p:cNvPr name="AutoShape 13" id="13"/>
            <p:cNvSpPr/>
            <p:nvPr/>
          </p:nvSpPr>
          <p:spPr>
            <a:xfrm flipH="true">
              <a:off x="16792975" y="5797481"/>
              <a:ext cx="76913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7739907" y="5268314"/>
              <a:ext cx="4570642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7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dịch sang trái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flipV="true">
              <a:off x="11304861" y="901701"/>
              <a:ext cx="0" cy="524714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2960598" y="-85725"/>
              <a:ext cx="4430553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sz="4499" spc="-8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THÊM PHÒNG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820932" y="-85725"/>
              <a:ext cx="4430553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sz="4499" spc="-89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XÓA PHÒNG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2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CHỨC NĂNG NHẬP PHÒNG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1613"/>
            <a:ext cx="7305602" cy="77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nhap( );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769003"/>
            <a:ext cx="16230600" cy="6296642"/>
            <a:chOff x="0" y="0"/>
            <a:chExt cx="21640800" cy="839552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542059" y="361558"/>
              <a:ext cx="4765481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pc="-73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CÁCH HOẠT ĐỘNG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2114759" y="361558"/>
              <a:ext cx="6665505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pc="-73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CHƯƠNG TRÌNH KIỂM TRA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7849600" cy="8255822"/>
              <a:chOff x="0" y="0"/>
              <a:chExt cx="1550538" cy="16307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50538" cy="1630780"/>
              </a:xfrm>
              <a:custGeom>
                <a:avLst/>
                <a:gdLst/>
                <a:ahLst/>
                <a:cxnLst/>
                <a:rect r="r" b="b" t="t" l="l"/>
                <a:pathLst>
                  <a:path h="1630780" w="1550538">
                    <a:moveTo>
                      <a:pt x="0" y="0"/>
                    </a:moveTo>
                    <a:lnTo>
                      <a:pt x="1550538" y="0"/>
                    </a:lnTo>
                    <a:lnTo>
                      <a:pt x="1550538" y="1630780"/>
                    </a:lnTo>
                    <a:lnTo>
                      <a:pt x="0" y="163078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9050"/>
                <a:ext cx="1550538" cy="1649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90090" y="1527362"/>
              <a:ext cx="6424398" cy="6868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Nhập mã phòng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Nhập loại phòng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Nhập tầng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Nhập sức chứa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Nhập g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á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uê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Nhậ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trạng thái</a:t>
              </a:r>
            </a:p>
            <a:p>
              <a:pPr algn="l">
                <a:lnSpc>
                  <a:spcPts val="5879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9254223" y="0"/>
              <a:ext cx="12386577" cy="8255822"/>
              <a:chOff x="0" y="0"/>
              <a:chExt cx="2446731" cy="16307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46731" cy="1630780"/>
              </a:xfrm>
              <a:custGeom>
                <a:avLst/>
                <a:gdLst/>
                <a:ahLst/>
                <a:cxnLst/>
                <a:rect r="r" b="b" t="t" l="l"/>
                <a:pathLst>
                  <a:path h="1630780" w="2446731">
                    <a:moveTo>
                      <a:pt x="0" y="0"/>
                    </a:moveTo>
                    <a:lnTo>
                      <a:pt x="2446731" y="0"/>
                    </a:lnTo>
                    <a:lnTo>
                      <a:pt x="2446731" y="1630780"/>
                    </a:lnTo>
                    <a:lnTo>
                      <a:pt x="0" y="1630780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2446731" cy="1649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9782555" y="1768662"/>
              <a:ext cx="11329914" cy="587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Tầng &gt; 0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Sức chứa &gt; 0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Giá thuê &gt; 0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Trạng thái = 0 hoặc 1</a:t>
              </a:r>
            </a:p>
            <a:p>
              <a:pPr algn="l" marL="906777" indent="-453388" lvl="1">
                <a:lnSpc>
                  <a:spcPts val="5879"/>
                </a:lnSpc>
                <a:buFont typeface="Arial"/>
                <a:buChar char="•"/>
              </a:pP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Nếu nhập sa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 → yê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 cầu nhậ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4199" spc="-104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lại.</a:t>
              </a:r>
            </a:p>
            <a:p>
              <a:pPr algn="l">
                <a:lnSpc>
                  <a:spcPts val="58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2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NHẬP DANH SÁCH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1613"/>
            <a:ext cx="9733884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nhapDanhSach( );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769003"/>
            <a:ext cx="16230600" cy="3697359"/>
            <a:chOff x="0" y="0"/>
            <a:chExt cx="4274726" cy="9737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973790"/>
            </a:xfrm>
            <a:custGeom>
              <a:avLst/>
              <a:gdLst/>
              <a:ahLst/>
              <a:cxnLst/>
              <a:rect r="r" b="b" t="t" l="l"/>
              <a:pathLst>
                <a:path h="97379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973790"/>
                  </a:lnTo>
                  <a:lnTo>
                    <a:pt x="0" y="973790"/>
                  </a:lnTo>
                  <a:close/>
                </a:path>
              </a:pathLst>
            </a:custGeom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274726" cy="99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94044" y="3696504"/>
            <a:ext cx="14984976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hập số lượng phòng n</a:t>
            </a:r>
          </a:p>
          <a:p>
            <a:pPr algn="l" marL="863598" indent="-431799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Chương trìn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 sử dụng vòng lặp, để nhập lần lượt từng phòng đồng thời kiểm tra mã phòng không được trùng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6417" y="3015784"/>
            <a:ext cx="362176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spc="-80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CÁCH HOẠT ĐỘNG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6170" y="6804645"/>
            <a:ext cx="1310953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8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LOGIC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7837619"/>
            <a:ext cx="16230600" cy="1420681"/>
            <a:chOff x="0" y="0"/>
            <a:chExt cx="4274726" cy="374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374171"/>
            </a:xfrm>
            <a:custGeom>
              <a:avLst/>
              <a:gdLst/>
              <a:ahLst/>
              <a:cxnLst/>
              <a:rect r="r" b="b" t="t" l="l"/>
              <a:pathLst>
                <a:path h="37417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374171"/>
                  </a:lnTo>
                  <a:lnTo>
                    <a:pt x="0" y="374171"/>
                  </a:lnTo>
                  <a:close/>
                </a:path>
              </a:pathLst>
            </a:custGeom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74726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97049" y="8167332"/>
            <a:ext cx="15457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 n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2738667" y="8247372"/>
            <a:ext cx="8114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22228" y="8167332"/>
            <a:ext cx="30113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 phòng 1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6419906" y="8247372"/>
            <a:ext cx="8114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3466" y="8167332"/>
            <a:ext cx="254555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Kiểm tra mã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9644913" y="8247372"/>
            <a:ext cx="8114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8473" y="8105161"/>
            <a:ext cx="30113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 phòng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0383" y="8105161"/>
            <a:ext cx="3853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...</a:t>
            </a: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13842538" y="8221942"/>
            <a:ext cx="8114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↓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22924" y="8079732"/>
            <a:ext cx="247166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Hoàn thành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2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SẮP XẾP THEO GIÁ THUÊ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1613"/>
            <a:ext cx="11433682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sapXepTheoGiaTangDan( 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6008"/>
            <a:ext cx="1168360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Mục đích: sắp xếp phòng theo giá thuê từ thấp → cao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63254"/>
            <a:ext cx="24079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Ý TƯỞNG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1577" y="4033839"/>
            <a:ext cx="15329911" cy="151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-10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 sánh giá của từng phòng nếu phòng trước có giá lớn hơn phòng sau → đổi </a:t>
            </a:r>
            <a:r>
              <a:rPr lang="en-US" b="true" sz="4200" spc="-105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vị trí.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60440"/>
            <a:ext cx="1355288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VÍ DỤ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27913" y="6136640"/>
            <a:ext cx="5458620" cy="1141912"/>
            <a:chOff x="0" y="0"/>
            <a:chExt cx="7278160" cy="152255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505248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738056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967599" y="132673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7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164105" y="149448"/>
              <a:ext cx="130433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4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274949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499225" y="149448"/>
              <a:ext cx="312303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8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0894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00718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30261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963645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190953" y="1053904"/>
              <a:ext cx="108720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0" y="0"/>
          <a:ext cx="8096250" cy="948043"/>
        </p:xfrm>
        <a:graphic>
          <a:graphicData uri="http://schemas.openxmlformats.org/drawingml/2006/table">
            <a:tbl>
              <a:tblPr/>
              <a:tblGrid>
                <a:gridCol w="1349375"/>
                <a:gridCol w="1349375"/>
                <a:gridCol w="1349375"/>
                <a:gridCol w="1349375"/>
                <a:gridCol w="1349375"/>
                <a:gridCol w="1349375"/>
              </a:tblGrid>
              <a:tr h="864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10827762" y="6136640"/>
            <a:ext cx="5458620" cy="1141912"/>
            <a:chOff x="0" y="0"/>
            <a:chExt cx="7278160" cy="152255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505248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38056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967599" y="132673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164105" y="149448"/>
              <a:ext cx="461327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5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274949" y="149448"/>
              <a:ext cx="848900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7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499225" y="149448"/>
              <a:ext cx="312303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9"/>
                </a:lnSpc>
                <a:spcBef>
                  <a:spcPct val="0"/>
                </a:spcBef>
              </a:pPr>
              <a:r>
                <a:rPr lang="en-US" sz="2449" spc="-61">
                  <a:solidFill>
                    <a:srgbClr val="0552A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8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30894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00718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730261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963645" y="1053904"/>
              <a:ext cx="66178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190953" y="1053904"/>
              <a:ext cx="1087207" cy="46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0" y="0"/>
          <a:ext cx="8096250" cy="948043"/>
        </p:xfrm>
        <a:graphic>
          <a:graphicData uri="http://schemas.openxmlformats.org/drawingml/2006/table">
            <a:tbl>
              <a:tblPr/>
              <a:tblGrid>
                <a:gridCol w="1349375"/>
                <a:gridCol w="1349375"/>
                <a:gridCol w="1349375"/>
                <a:gridCol w="1349375"/>
                <a:gridCol w="1349375"/>
                <a:gridCol w="1349375"/>
              </a:tblGrid>
              <a:tr h="864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4" id="34"/>
          <p:cNvSpPr txBox="true"/>
          <p:nvPr/>
        </p:nvSpPr>
        <p:spPr>
          <a:xfrm rot="0">
            <a:off x="5242104" y="7009312"/>
            <a:ext cx="143023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spc="-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Ban đầu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99239" y="7009312"/>
            <a:ext cx="21156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Sau sắp xếp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9695" y="8004992"/>
            <a:ext cx="10761464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-105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Thuật toán:</a:t>
            </a:r>
            <a:r>
              <a:rPr lang="en-US" sz="4200" spc="-10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sắp xếp đơn giản bằng hai vòng lặp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 spc="-105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Độ phức tạp:</a:t>
            </a:r>
            <a:r>
              <a:rPr lang="en-US" b="true" sz="4200" spc="-10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4200" spc="-10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O(n²).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717" y="266699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TÌM KIẾM THEO MÃ PHÒNG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5337" y="1009650"/>
            <a:ext cx="9900836" cy="262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9"/>
              </a:lnSpc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sz="3999" spc="-9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timTheoMa( );</a:t>
            </a:r>
          </a:p>
          <a:p>
            <a:pPr algn="l">
              <a:lnSpc>
                <a:spcPts val="4959"/>
              </a:lnSpc>
            </a:pPr>
            <a:r>
              <a:rPr lang="en-US" sz="3999" spc="-9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Cách hoạt động:</a:t>
            </a:r>
          </a:p>
          <a:p>
            <a:pPr algn="l" marL="863598" indent="-431799" lvl="1">
              <a:lnSpc>
                <a:spcPts val="4959"/>
              </a:lnSpc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Người dùng nhập mã cần tìm.</a:t>
            </a:r>
          </a:p>
          <a:p>
            <a:pPr algn="l" marL="863598" indent="-431799" lvl="1">
              <a:lnSpc>
                <a:spcPts val="495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 sánh từng phòng nếu giống → xuất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5337" y="9132570"/>
            <a:ext cx="9104486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spc="-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Đây là tìm kiếm tuần tự, </a:t>
            </a:r>
            <a:r>
              <a:rPr lang="en-US" b="true" sz="4000" spc="-100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độ phức tạp</a:t>
            </a:r>
            <a:r>
              <a:rPr lang="en-US" sz="4000" spc="-100">
                <a:solidFill>
                  <a:srgbClr val="0552A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00" spc="-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O(n).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921" y="4924576"/>
            <a:ext cx="223658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Nhập: P03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46303" y="4204411"/>
            <a:ext cx="225619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spc="-9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 ≠ P03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48568" y="6012891"/>
            <a:ext cx="2253929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P02 ≠ P03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8955" y="7821371"/>
            <a:ext cx="2213542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 = P03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88748" y="7821371"/>
            <a:ext cx="2328982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Tìm thấy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2033" y="7821371"/>
            <a:ext cx="38671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52770" y="4100346"/>
            <a:ext cx="5023992" cy="5117949"/>
            <a:chOff x="0" y="0"/>
            <a:chExt cx="6698656" cy="6823932"/>
          </a:xfrm>
        </p:grpSpPr>
        <p:sp>
          <p:nvSpPr>
            <p:cNvPr name="TextBox 13" id="13"/>
            <p:cNvSpPr txBox="true"/>
            <p:nvPr/>
          </p:nvSpPr>
          <p:spPr>
            <a:xfrm rot="-5400000">
              <a:off x="698665" y="1549189"/>
              <a:ext cx="51562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6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→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-5400000">
              <a:off x="3004426" y="3939571"/>
              <a:ext cx="51562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6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→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-5400000">
              <a:off x="5286009" y="6254761"/>
              <a:ext cx="51562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6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→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0" y="0"/>
          <a:ext cx="5023992" cy="1133475"/>
        </p:xfrm>
        <a:graphic>
          <a:graphicData uri="http://schemas.openxmlformats.org/drawingml/2006/table">
            <a:tbl>
              <a:tblPr/>
              <a:tblGrid>
                <a:gridCol w="1674664"/>
                <a:gridCol w="1674664"/>
                <a:gridCol w="1674664"/>
              </a:tblGrid>
              <a:tr h="11334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0" y="1746603"/>
          <a:ext cx="5023992" cy="1133475"/>
        </p:xfrm>
        <a:graphic>
          <a:graphicData uri="http://schemas.openxmlformats.org/drawingml/2006/table">
            <a:tbl>
              <a:tblPr/>
              <a:tblGrid>
                <a:gridCol w="1674664"/>
                <a:gridCol w="1674664"/>
                <a:gridCol w="1674664"/>
              </a:tblGrid>
              <a:tr h="11334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0" y="3496321"/>
          <a:ext cx="5023992" cy="1133475"/>
        </p:xfrm>
        <a:graphic>
          <a:graphicData uri="http://schemas.openxmlformats.org/drawingml/2006/table">
            <a:tbl>
              <a:tblPr/>
              <a:tblGrid>
                <a:gridCol w="1674664"/>
                <a:gridCol w="1674664"/>
                <a:gridCol w="1674664"/>
              </a:tblGrid>
              <a:tr h="11334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835337" y="3693946"/>
            <a:ext cx="3175174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Ví dụ: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Tìm P03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2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TÌM KIẾM THEO TRẠNG THÁI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1613"/>
            <a:ext cx="9976713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timTheoTrangThai( 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6008"/>
            <a:ext cx="13994578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-10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Người dùng chọn:</a:t>
            </a:r>
            <a:r>
              <a:rPr lang="en-US" b="true" sz="4200" spc="-105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0 → Còn trống              1 → Đã thuê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49930"/>
            <a:ext cx="15600155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-10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Sau đó chương trình duyệt toàn bộ danh sách và tìm những phòng có trạng thái phù hợp.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9888" y="4872990"/>
            <a:ext cx="1490067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VÍ DỤ: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4165" y="5787390"/>
            <a:ext cx="3267313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 → Trống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P02 → Đã thuê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 → Trống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P04 → Đã thuê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0397" y="5562600"/>
            <a:ext cx="133676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Chọn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90392" y="5562600"/>
            <a:ext cx="1879402" cy="22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Kết quả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6533" y="8652511"/>
            <a:ext cx="440323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Độ phức tạp: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O(n)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2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THÊM PHÒNG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9983"/>
            <a:ext cx="9976713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themPhong(int viTri);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9743" y="2360093"/>
            <a:ext cx="6491540" cy="77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Ví dụ: 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Thêm P05 vào vị trí 2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851860" y="4086225"/>
          <a:ext cx="5834673" cy="1057275"/>
        </p:xfrm>
        <a:graphic>
          <a:graphicData uri="http://schemas.openxmlformats.org/drawingml/2006/table">
            <a:tbl>
              <a:tblPr/>
              <a:tblGrid>
                <a:gridCol w="1458668"/>
                <a:gridCol w="1458668"/>
                <a:gridCol w="1458668"/>
                <a:gridCol w="1458668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909646" y="4150372"/>
            <a:ext cx="36758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danh sách phòng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9646" y="5983163"/>
            <a:ext cx="76036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dịch các phần tử phía sau sang phải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9646" y="7768330"/>
            <a:ext cx="552003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 phòng mới và tăng 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93510" y="4237037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2225" y="4237037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47140" y="4237037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12056" y="4246562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71333" y="5832351"/>
            <a:ext cx="7315200" cy="1057275"/>
            <a:chOff x="0" y="0"/>
            <a:chExt cx="9753600" cy="14097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423994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50853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277713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P03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217272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157792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P05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0" y="0"/>
          <a:ext cx="7315200" cy="1057275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371333" y="7575426"/>
            <a:ext cx="7315200" cy="1057275"/>
            <a:chOff x="0" y="0"/>
            <a:chExt cx="9753600" cy="140970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423994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350853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277713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217272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157792" y="226483"/>
              <a:ext cx="1140420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P05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0" y="0"/>
          <a:ext cx="7315200" cy="1057275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7160" y="604837"/>
            <a:ext cx="81137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XÓA PHÒNG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7676" y="1455743"/>
            <a:ext cx="9976713" cy="157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Hàm thực hiện: </a:t>
            </a:r>
            <a:r>
              <a:rPr lang="en-US" sz="4199" spc="-104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xoaPhong(int viTri);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104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Ví dụ:  </a:t>
            </a:r>
            <a:r>
              <a:rPr lang="en-US" sz="4199" spc="-10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Xóa P02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280160" y="4011655"/>
          <a:ext cx="5834673" cy="1057275"/>
        </p:xfrm>
        <a:graphic>
          <a:graphicData uri="http://schemas.openxmlformats.org/drawingml/2006/table">
            <a:tbl>
              <a:tblPr/>
              <a:tblGrid>
                <a:gridCol w="1458668"/>
                <a:gridCol w="1458668"/>
                <a:gridCol w="1458668"/>
                <a:gridCol w="1458668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621810" y="4162468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0525" y="4162468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75440" y="4162468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0355" y="4171993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P04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280160" y="5847102"/>
          <a:ext cx="5834673" cy="1057275"/>
        </p:xfrm>
        <a:graphic>
          <a:graphicData uri="http://schemas.openxmlformats.org/drawingml/2006/table">
            <a:tbl>
              <a:tblPr/>
              <a:tblGrid>
                <a:gridCol w="1458668"/>
                <a:gridCol w="1458668"/>
                <a:gridCol w="1458668"/>
                <a:gridCol w="1458668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2621810" y="5997914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10525" y="5997914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75440" y="5997914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P04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280160" y="7685427"/>
          <a:ext cx="4359125" cy="1057275"/>
        </p:xfrm>
        <a:graphic>
          <a:graphicData uri="http://schemas.openxmlformats.org/drawingml/2006/table">
            <a:tbl>
              <a:tblPr/>
              <a:tblGrid>
                <a:gridCol w="1453042"/>
                <a:gridCol w="1453042"/>
                <a:gridCol w="1453042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2621810" y="7836239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10525" y="7836239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75440" y="7836239"/>
            <a:ext cx="855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6060" y="4162468"/>
            <a:ext cx="36758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danh sách phòng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060" y="5986172"/>
            <a:ext cx="73425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dịch các phần tử phía sau sang trái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6060" y="7836239"/>
            <a:ext cx="142473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giảm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728" y="690745"/>
            <a:ext cx="6108323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 spc="-8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 MENU CHƯƠNG TRÌNH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42448" y="1794685"/>
            <a:ext cx="9585796" cy="713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Menu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giúp người dùng 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lựa chọn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chức năng: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Nhập danh sách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Xuất danh sách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Sắp xếp theo giá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Tìm theo mã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Tìm theo trạng thái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Thêm phòng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Xóa phòng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0. Thoát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Để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xác định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chức năng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cần thực hiện.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870885"/>
            <a:ext cx="5808909" cy="7538561"/>
            <a:chOff x="0" y="0"/>
            <a:chExt cx="7745212" cy="1005141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745212" cy="10051415"/>
              <a:chOff x="0" y="0"/>
              <a:chExt cx="1529919" cy="198546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9919" cy="1985465"/>
              </a:xfrm>
              <a:custGeom>
                <a:avLst/>
                <a:gdLst/>
                <a:ahLst/>
                <a:cxnLst/>
                <a:rect r="r" b="b" t="t" l="l"/>
                <a:pathLst>
                  <a:path h="1985465" w="1529919">
                    <a:moveTo>
                      <a:pt x="0" y="0"/>
                    </a:moveTo>
                    <a:lnTo>
                      <a:pt x="1529919" y="0"/>
                    </a:lnTo>
                    <a:lnTo>
                      <a:pt x="1529919" y="1985465"/>
                    </a:lnTo>
                    <a:lnTo>
                      <a:pt x="0" y="1985465"/>
                    </a:lnTo>
                    <a:close/>
                  </a:path>
                </a:pathLst>
              </a:custGeom>
              <a:ln w="19050" cap="sq">
                <a:solidFill>
                  <a:srgbClr val="0552A1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1529919" cy="20045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86041" y="337517"/>
              <a:ext cx="5849938" cy="86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 spc="-89">
                  <a:solidFill>
                    <a:srgbClr val="0552A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LUỒNG HOẠT ĐỘNG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579097" y="1749757"/>
              <a:ext cx="2663825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Khởi động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151812" y="3151837"/>
              <a:ext cx="3518396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Hiển thị Menu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70303" y="4553917"/>
              <a:ext cx="4481413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Người dùng chọn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54809" y="2359357"/>
              <a:ext cx="490538" cy="85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 spc="-8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↓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50639" y="5955998"/>
              <a:ext cx="5443934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Thực hiện chức năng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42715" y="7328717"/>
              <a:ext cx="3659783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Quay lại Menu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43310" y="8730797"/>
              <a:ext cx="4004072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8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Chọn 0 → Thoát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54809" y="3761437"/>
              <a:ext cx="490538" cy="85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 spc="-8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↓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4809" y="5163517"/>
              <a:ext cx="490538" cy="85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 spc="-8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↓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54809" y="6565598"/>
              <a:ext cx="490538" cy="85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 spc="-8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↓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54809" y="7967678"/>
              <a:ext cx="490538" cy="85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 spc="-8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↓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528" y="1655877"/>
            <a:ext cx="15240945" cy="6975246"/>
            <a:chOff x="0" y="0"/>
            <a:chExt cx="4014076" cy="183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4076" cy="1837102"/>
            </a:xfrm>
            <a:custGeom>
              <a:avLst/>
              <a:gdLst/>
              <a:ahLst/>
              <a:cxnLst/>
              <a:rect r="r" b="b" t="t" l="l"/>
              <a:pathLst>
                <a:path h="1837102" w="4014076">
                  <a:moveTo>
                    <a:pt x="0" y="0"/>
                  </a:moveTo>
                  <a:lnTo>
                    <a:pt x="4014076" y="0"/>
                  </a:lnTo>
                  <a:lnTo>
                    <a:pt x="4014076" y="1837102"/>
                  </a:lnTo>
                  <a:lnTo>
                    <a:pt x="0" y="1837102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014076" cy="1856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67564" y="3289495"/>
            <a:ext cx="13347242" cy="501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Xây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dựng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được 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chương trình quản lý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phòng khách sạn bằng C++.</a:t>
            </a:r>
          </a:p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Quản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lý thông tin phòng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mã, loại, tầng, sức chứa, giá thuê, trạng thái.</a:t>
            </a:r>
          </a:p>
          <a:p>
            <a:pPr algn="l" marL="863598" indent="-431799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Thực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hiện 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được </a:t>
            </a:r>
            <a:r>
              <a:rPr lang="en-US" b="true" sz="3999" spc="-99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các chức năng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nhập, xuất, thêm, xóa, tìm kiếm và sắp xếp.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14407" y="2141137"/>
            <a:ext cx="2570694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KẾT QUẢ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2226" y="1519166"/>
            <a:ext cx="13923548" cy="7248668"/>
            <a:chOff x="0" y="0"/>
            <a:chExt cx="3667107" cy="1909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67108" cy="1909114"/>
            </a:xfrm>
            <a:custGeom>
              <a:avLst/>
              <a:gdLst/>
              <a:ahLst/>
              <a:cxnLst/>
              <a:rect r="r" b="b" t="t" l="l"/>
              <a:pathLst>
                <a:path h="1909114" w="3667108">
                  <a:moveTo>
                    <a:pt x="0" y="0"/>
                  </a:moveTo>
                  <a:lnTo>
                    <a:pt x="3667108" y="0"/>
                  </a:lnTo>
                  <a:lnTo>
                    <a:pt x="3667108" y="1909114"/>
                  </a:lnTo>
                  <a:lnTo>
                    <a:pt x="0" y="1909114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667107" cy="192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27480" y="3075311"/>
            <a:ext cx="10687593" cy="518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Ưu điểm: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Đầy</a:t>
            </a: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đủ các chức năng chính của bài toán.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Dữ liệu được quản lý theo đối tượng và danh sách.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Có</a:t>
            </a: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kiểm tra dữ liệu và mã phòng trùng.</a:t>
            </a:r>
          </a:p>
          <a:p>
            <a:pPr algn="l">
              <a:lnSpc>
                <a:spcPts val="5040"/>
              </a:lnSpc>
            </a:pPr>
            <a:r>
              <a:rPr lang="en-US" sz="3600" spc="-89" b="true">
                <a:solidFill>
                  <a:srgbClr val="0552A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Hạn chế: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Số lượng phòng bị giới hạn.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3600" spc="-8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iao diện chương trình còn đơn giản.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627480" y="2066567"/>
            <a:ext cx="2719833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Đ</a:t>
            </a: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ÁNH GIÁ 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9055"/>
            <a:ext cx="16230600" cy="8468889"/>
            <a:chOff x="0" y="0"/>
            <a:chExt cx="4274726" cy="22304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30489"/>
            </a:xfrm>
            <a:custGeom>
              <a:avLst/>
              <a:gdLst/>
              <a:ahLst/>
              <a:cxnLst/>
              <a:rect r="r" b="b" t="t" l="l"/>
              <a:pathLst>
                <a:path h="2230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30489"/>
                  </a:lnTo>
                  <a:lnTo>
                    <a:pt x="0" y="2230489"/>
                  </a:lnTo>
                  <a:close/>
                </a:path>
              </a:pathLst>
            </a:custGeom>
            <a:solidFill>
              <a:srgbClr val="F3FBFF"/>
            </a:solidFill>
            <a:ln w="19050" cap="sq">
              <a:solidFill>
                <a:srgbClr val="0552A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74726" cy="2249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23528" y="2334895"/>
            <a:ext cx="13347242" cy="273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Mở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rộng số lượng phòng có thể quản lý.</a:t>
            </a:r>
          </a:p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Bổ sung chức năng đặt phòng, trả phòng và tính tiền.</a:t>
            </a:r>
          </a:p>
          <a:p>
            <a:pPr algn="l" marL="863598" indent="-431799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Cải thiện giao diện để chương trình dễ sử dụng hơn.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67572" y="1340101"/>
            <a:ext cx="5230343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HƯỚNG PHÁT TRIỀN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7572" y="4847411"/>
            <a:ext cx="5230343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spc="-99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KẾT LUẬN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528" y="5940689"/>
            <a:ext cx="15240945" cy="3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Đề tài đã</a:t>
            </a: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xây dựng được chương trình quản lý phòng khách sạn với các chức năng cơ bản.</a:t>
            </a:r>
          </a:p>
          <a:p>
            <a:pPr algn="l" marL="863598" indent="-431799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-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Qua đề tài, nhóm vận dụng kiến thức lập trình hướng đối tượng và rèn luyện kỹ năng lập trình, phân tích và làm việc nhóm.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88074" y="4161155"/>
            <a:ext cx="7111852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  <a:spcBef>
                <a:spcPct val="0"/>
              </a:spcBef>
            </a:pPr>
            <a:r>
              <a:rPr lang="en-US" sz="10400" spc="-208">
                <a:solidFill>
                  <a:srgbClr val="0552A1"/>
                </a:solidFill>
                <a:latin typeface="Francois One"/>
                <a:ea typeface="Francois One"/>
                <a:cs typeface="Francois One"/>
                <a:sym typeface="Francois One"/>
              </a:rPr>
              <a:t>CẢM ƠN!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DAHXWMWYhco</dc:identifier>
  <dcterms:modified xsi:type="dcterms:W3CDTF">2011-08-01T06:04:30Z</dcterms:modified>
  <cp:revision>1</cp:revision>
  <dc:title>A2 - Lập trình HĐT</dc:title>
</cp:coreProperties>
</file>